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Canva Sans Bold" charset="1" panose="020B0803030501040103"/>
      <p:regular r:id="rId29"/>
    </p:embeddedFont>
    <p:embeddedFont>
      <p:font typeface="Canva Sans" charset="1" panose="020B0503030501040103"/>
      <p:regular r:id="rId30"/>
    </p:embeddedFont>
    <p:embeddedFont>
      <p:font typeface="Canva Sans Italics" charset="1" panose="020B0503030501040103"/>
      <p:regular r:id="rId31"/>
    </p:embeddedFont>
    <p:embeddedFont>
      <p:font typeface="Calibri (MS) Bold" charset="1" panose="020F0702030404030204"/>
      <p:regular r:id="rId32"/>
    </p:embeddedFont>
    <p:embeddedFont>
      <p:font typeface="Consolas Bold" charset="1" panose="020B0709020204030204"/>
      <p:regular r:id="rId33"/>
    </p:embeddedFont>
    <p:embeddedFont>
      <p:font typeface="Consolas" charset="1" panose="020B060902020403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78451"/>
            <a:chOff x="0" y="0"/>
            <a:chExt cx="24402453" cy="237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37871"/>
            </a:xfrm>
            <a:custGeom>
              <a:avLst/>
              <a:gdLst/>
              <a:ahLst/>
              <a:cxnLst/>
              <a:rect r="r" b="b" t="t" l="l"/>
              <a:pathLst>
                <a:path h="23787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37871"/>
                  </a:lnTo>
                  <a:lnTo>
                    <a:pt x="0" y="237871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44108" y="0"/>
            <a:ext cx="7467333" cy="10295039"/>
            <a:chOff x="0" y="0"/>
            <a:chExt cx="9956444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564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956419">
                  <a:moveTo>
                    <a:pt x="0" y="0"/>
                  </a:moveTo>
                  <a:lnTo>
                    <a:pt x="9956419" y="0"/>
                  </a:lnTo>
                  <a:lnTo>
                    <a:pt x="99564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A1A2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04039" y="1971323"/>
            <a:ext cx="9059637" cy="290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801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CSCI316 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4039" y="2726293"/>
            <a:ext cx="9196902" cy="18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93"/>
              </a:lnSpc>
            </a:pPr>
            <a:r>
              <a:rPr lang="en-US" sz="600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Predicting Loan Default</a:t>
            </a:r>
          </a:p>
          <a:p>
            <a:pPr algn="l">
              <a:lnSpc>
                <a:spcPts val="7493"/>
              </a:lnSpc>
            </a:pPr>
            <a:r>
              <a:rPr lang="en-US" sz="600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 Origination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04039" y="5559323"/>
            <a:ext cx="1441304" cy="57198"/>
            <a:chOff x="0" y="0"/>
            <a:chExt cx="1921739" cy="762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04039" y="5973080"/>
            <a:ext cx="8922372" cy="164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B8CADB"/>
                </a:solidFill>
                <a:latin typeface="Canva Sans"/>
                <a:ea typeface="Canva Sans"/>
                <a:cs typeface="Canva Sans"/>
                <a:sym typeface="Canva Sans"/>
              </a:rPr>
              <a:t>An end-to-end big-data mining workflow on 855,969 Lending Club loans</a:t>
            </a:r>
          </a:p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8AA4BC"/>
                </a:solidFill>
                <a:latin typeface="Canva Sans"/>
                <a:ea typeface="Canva Sans"/>
                <a:cs typeface="Canva Sans"/>
                <a:sym typeface="Canva Sans"/>
              </a:rPr>
              <a:t>Stage 1 — Apache Spark data exploration</a:t>
            </a:r>
          </a:p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8AA4BC"/>
                </a:solidFill>
                <a:latin typeface="Canva Sans"/>
                <a:ea typeface="Canva Sans"/>
                <a:cs typeface="Canva Sans"/>
                <a:sym typeface="Canva Sans"/>
              </a:rPr>
              <a:t>Stage 2 — Spark MLlib  +  TensorFlow / Keras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73617" y="2716768"/>
            <a:ext cx="5765225" cy="274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651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HEADLINE RESULT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73617" y="3355477"/>
            <a:ext cx="1752402" cy="84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510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0.183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73617" y="4116896"/>
            <a:ext cx="5627951" cy="60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94AEC7"/>
                </a:solidFill>
                <a:latin typeface="Canva Sans"/>
                <a:ea typeface="Canva Sans"/>
                <a:cs typeface="Canva Sans"/>
                <a:sym typeface="Canva Sans"/>
              </a:rPr>
              <a:t>best PR-AUC (DeepMLP) — 3.35× the 5.46% random baseline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73617" y="5112506"/>
            <a:ext cx="1841302" cy="84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510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0.802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73617" y="5873915"/>
            <a:ext cx="5627951" cy="29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94AEC7"/>
                </a:solidFill>
                <a:latin typeface="Canva Sans"/>
                <a:ea typeface="Canva Sans"/>
                <a:cs typeface="Canva Sans"/>
                <a:sym typeface="Canva Sans"/>
              </a:rPr>
              <a:t>ROC-AUC, TensorFlow MLP and DeepMLP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73617" y="6869525"/>
            <a:ext cx="1340644" cy="84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9"/>
              </a:lnSpc>
            </a:pPr>
            <a:r>
              <a:rPr lang="en-US" sz="510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55%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73617" y="7630935"/>
            <a:ext cx="5627951" cy="60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94AEC7"/>
                </a:solidFill>
                <a:latin typeface="Canva Sans"/>
                <a:ea typeface="Canva Sans"/>
                <a:cs typeface="Canva Sans"/>
                <a:sym typeface="Canva Sans"/>
              </a:rPr>
              <a:t>of defaults recovered by the single-unit LogisticNN at its tuned threshold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4039" y="8874747"/>
            <a:ext cx="9059637" cy="613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6E89A3"/>
                </a:solidFill>
                <a:latin typeface="Canva Sans"/>
                <a:ea typeface="Canva Sans"/>
                <a:cs typeface="Canva Sans"/>
                <a:sym typeface="Canva Sans"/>
              </a:rPr>
              <a:t>Target: default_ind  ·  5.43% default (17.4 : 1)  ·  no post-origination feature used as a predictor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Problem: Who Will Default?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8324" y="2057886"/>
            <a:ext cx="9608706" cy="417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25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Task.</a:t>
            </a:r>
            <a:r>
              <a:rPr lang="en-US" sz="22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Binary classification of default_ind — 1 if the borrower stopped paying, 0 otherwise.</a:t>
            </a:r>
          </a:p>
          <a:p>
            <a:pPr algn="l">
              <a:lnSpc>
                <a:spcPts val="3026"/>
              </a:lnSpc>
            </a:pPr>
            <a:r>
              <a:rPr lang="en-US" sz="225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Constraint that shapes everything.</a:t>
            </a:r>
            <a:r>
              <a:rPr lang="en-US" sz="22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The prediction must be usable at the moment the loan is approved.</a:t>
            </a:r>
          </a:p>
          <a:p>
            <a:pPr algn="l">
              <a:lnSpc>
                <a:spcPts val="3026"/>
              </a:lnSpc>
            </a:pPr>
            <a:r>
              <a:rPr lang="en-US" sz="225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that matters.</a:t>
            </a:r>
            <a:r>
              <a:rPr lang="en-US" sz="22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The dataset carries 13 post-funding columns (total_pymnt, recoveries, last_pymnt_amnt, out_prncp …). They describe repayment behaviour, so a model trained on them scores near-perfectly and is worthless in production.</a:t>
            </a:r>
          </a:p>
          <a:p>
            <a:pPr algn="l">
              <a:lnSpc>
                <a:spcPts val="3026"/>
              </a:lnSpc>
            </a:pPr>
            <a:r>
              <a:rPr lang="en-US" sz="225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framing.</a:t>
            </a:r>
            <a:r>
              <a:rPr lang="en-US" sz="22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A false negative is a funded loan that is written off; a false positive is forgone interest. The two errors are not symmetric, so we rank borrowers by risk rather than hand back a hard yes / no.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214735" y="2086461"/>
            <a:ext cx="6098781" cy="5875039"/>
            <a:chOff x="0" y="0"/>
            <a:chExt cx="8131708" cy="78333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31683" cy="7833360"/>
            </a:xfrm>
            <a:custGeom>
              <a:avLst/>
              <a:gdLst/>
              <a:ahLst/>
              <a:cxnLst/>
              <a:rect r="r" b="b" t="t" l="l"/>
              <a:pathLst>
                <a:path h="7833360" w="8131683">
                  <a:moveTo>
                    <a:pt x="0" y="0"/>
                  </a:moveTo>
                  <a:lnTo>
                    <a:pt x="8131683" y="0"/>
                  </a:lnTo>
                  <a:lnTo>
                    <a:pt x="8131683" y="7833360"/>
                  </a:lnTo>
                  <a:lnTo>
                    <a:pt x="0" y="783336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214735" y="2086461"/>
            <a:ext cx="6098781" cy="57198"/>
            <a:chOff x="0" y="0"/>
            <a:chExt cx="8131708" cy="76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31683" cy="76200"/>
            </a:xfrm>
            <a:custGeom>
              <a:avLst/>
              <a:gdLst/>
              <a:ahLst/>
              <a:cxnLst/>
              <a:rect r="r" b="b" t="t" l="l"/>
              <a:pathLst>
                <a:path h="76200" w="8131683">
                  <a:moveTo>
                    <a:pt x="0" y="0"/>
                  </a:moveTo>
                  <a:lnTo>
                    <a:pt x="8131683" y="0"/>
                  </a:lnTo>
                  <a:lnTo>
                    <a:pt x="813168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571627" y="2359876"/>
            <a:ext cx="5384997" cy="432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651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</a:t>
            </a:r>
          </a:p>
          <a:p>
            <a:pPr algn="l">
              <a:lnSpc>
                <a:spcPts val="3064"/>
              </a:lnSpc>
            </a:pPr>
            <a:r>
              <a:rPr lang="en-US" sz="20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Build a reproducible, leakage-free workflow that ranks loan applications by default risk, and compare two learning stacks on the same features and the same split.</a:t>
            </a:r>
          </a:p>
          <a:p>
            <a:pPr algn="l">
              <a:lnSpc>
                <a:spcPts val="2219"/>
              </a:lnSpc>
            </a:pPr>
            <a:r>
              <a:rPr lang="en-US" sz="1651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SUCCESS IS MEASURED BY</a:t>
            </a:r>
          </a:p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·  PR-AUC — the ranking metric that survives a 17 : 1 imbalance</a:t>
            </a:r>
          </a:p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·  Recall and precision on the default class at a tuned threshold</a:t>
            </a:r>
          </a:p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·  ROC-AUC, reported for comparability</a:t>
            </a:r>
          </a:p>
          <a:p>
            <a:pPr algn="l">
              <a:lnSpc>
                <a:spcPts val="2594"/>
              </a:lnSpc>
            </a:pPr>
            <a:r>
              <a:rPr lang="en-US" sz="180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·  Accuracy, reported but never used to choose a model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214735" y="8236039"/>
            <a:ext cx="6098781" cy="1070686"/>
            <a:chOff x="0" y="0"/>
            <a:chExt cx="8131708" cy="14275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31683" cy="1427607"/>
            </a:xfrm>
            <a:custGeom>
              <a:avLst/>
              <a:gdLst/>
              <a:ahLst/>
              <a:cxnLst/>
              <a:rect r="r" b="b" t="t" l="l"/>
              <a:pathLst>
                <a:path h="1427607" w="8131683">
                  <a:moveTo>
                    <a:pt x="0" y="0"/>
                  </a:moveTo>
                  <a:lnTo>
                    <a:pt x="8131683" y="0"/>
                  </a:lnTo>
                  <a:lnTo>
                    <a:pt x="8131683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214735" y="8236039"/>
            <a:ext cx="57198" cy="1070686"/>
            <a:chOff x="0" y="0"/>
            <a:chExt cx="76264" cy="14275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" cy="1427607"/>
            </a:xfrm>
            <a:custGeom>
              <a:avLst/>
              <a:gdLst/>
              <a:ahLst/>
              <a:cxnLst/>
              <a:rect r="r" b="b" t="t" l="l"/>
              <a:pathLst>
                <a:path h="1427607" w="76200">
                  <a:moveTo>
                    <a:pt x="0" y="0"/>
                  </a:moveTo>
                  <a:lnTo>
                    <a:pt x="76200" y="0"/>
                  </a:lnTo>
                  <a:lnTo>
                    <a:pt x="76200" y="1427607"/>
                  </a:lnTo>
                  <a:lnTo>
                    <a:pt x="0" y="1427607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516725" y="8414480"/>
            <a:ext cx="5522262" cy="1028424"/>
            <a:chOff x="0" y="0"/>
            <a:chExt cx="7363016" cy="13712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63014" cy="1371224"/>
            </a:xfrm>
            <a:custGeom>
              <a:avLst/>
              <a:gdLst/>
              <a:ahLst/>
              <a:cxnLst/>
              <a:rect r="r" b="b" t="t" l="l"/>
              <a:pathLst>
                <a:path h="1371224" w="7363014">
                  <a:moveTo>
                    <a:pt x="0" y="0"/>
                  </a:moveTo>
                  <a:lnTo>
                    <a:pt x="7363014" y="0"/>
                  </a:lnTo>
                  <a:lnTo>
                    <a:pt x="7363014" y="1371224"/>
                  </a:lnTo>
                  <a:lnTo>
                    <a:pt x="0" y="1371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9924" r="0" b="-3933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363016" cy="1409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7"/>
                </a:lnSpc>
              </a:pPr>
              <a:r>
                <a:rPr lang="en-US" sz="1801">
                  <a:solidFill>
                    <a:srgbClr val="1C2B3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 constant “no default” rule already scores 94.53% accuracy. Accuracy alone cannot separate a good model from a useless one.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Dataset at a Glance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8324" y="2086461"/>
            <a:ext cx="3895982" cy="1400127"/>
            <a:chOff x="0" y="0"/>
            <a:chExt cx="5194643" cy="18668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94681" cy="1866773"/>
            </a:xfrm>
            <a:custGeom>
              <a:avLst/>
              <a:gdLst/>
              <a:ahLst/>
              <a:cxnLst/>
              <a:rect r="r" b="b" t="t" l="l"/>
              <a:pathLst>
                <a:path h="1866773" w="5194681">
                  <a:moveTo>
                    <a:pt x="0" y="0"/>
                  </a:moveTo>
                  <a:lnTo>
                    <a:pt x="5194681" y="0"/>
                  </a:lnTo>
                  <a:lnTo>
                    <a:pt x="5194681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88324" y="2086461"/>
            <a:ext cx="57198" cy="1400127"/>
            <a:chOff x="0" y="0"/>
            <a:chExt cx="76264" cy="18668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1866773"/>
            </a:xfrm>
            <a:custGeom>
              <a:avLst/>
              <a:gdLst/>
              <a:ahLst/>
              <a:cxnLst/>
              <a:rect r="r" b="b" t="t" l="l"/>
              <a:pathLst>
                <a:path h="1866773" w="76200">
                  <a:moveTo>
                    <a:pt x="0" y="0"/>
                  </a:moveTo>
                  <a:lnTo>
                    <a:pt x="76200" y="0"/>
                  </a:lnTo>
                  <a:lnTo>
                    <a:pt x="76200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62863" y="2231012"/>
            <a:ext cx="3484188" cy="109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302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855,969</a:t>
            </a:r>
          </a:p>
          <a:p>
            <a:pPr algn="l">
              <a:lnSpc>
                <a:spcPts val="2118"/>
              </a:lnSpc>
            </a:pPr>
            <a:r>
              <a:rPr lang="en-US" sz="1576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loans, verified against the raw CSV line count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131394" y="2086461"/>
            <a:ext cx="3895982" cy="1400127"/>
            <a:chOff x="0" y="0"/>
            <a:chExt cx="5194643" cy="18668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94681" cy="1866773"/>
            </a:xfrm>
            <a:custGeom>
              <a:avLst/>
              <a:gdLst/>
              <a:ahLst/>
              <a:cxnLst/>
              <a:rect r="r" b="b" t="t" l="l"/>
              <a:pathLst>
                <a:path h="1866773" w="5194681">
                  <a:moveTo>
                    <a:pt x="0" y="0"/>
                  </a:moveTo>
                  <a:lnTo>
                    <a:pt x="5194681" y="0"/>
                  </a:lnTo>
                  <a:lnTo>
                    <a:pt x="5194681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131394" y="2086461"/>
            <a:ext cx="57198" cy="1400127"/>
            <a:chOff x="0" y="0"/>
            <a:chExt cx="76264" cy="18668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1866773"/>
            </a:xfrm>
            <a:custGeom>
              <a:avLst/>
              <a:gdLst/>
              <a:ahLst/>
              <a:cxnLst/>
              <a:rect r="r" b="b" t="t" l="l"/>
              <a:pathLst>
                <a:path h="1866773" w="76200">
                  <a:moveTo>
                    <a:pt x="0" y="0"/>
                  </a:moveTo>
                  <a:lnTo>
                    <a:pt x="76200" y="0"/>
                  </a:lnTo>
                  <a:lnTo>
                    <a:pt x="76200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405923" y="2231012"/>
            <a:ext cx="3484188" cy="109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302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73 → 48</a:t>
            </a:r>
          </a:p>
          <a:p>
            <a:pPr algn="l">
              <a:lnSpc>
                <a:spcPts val="2118"/>
              </a:lnSpc>
            </a:pPr>
            <a:r>
              <a:rPr lang="en-US" sz="1576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columns after cleaning; 38 enter the models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74454" y="2086461"/>
            <a:ext cx="3895982" cy="1400127"/>
            <a:chOff x="0" y="0"/>
            <a:chExt cx="5194643" cy="18668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94681" cy="1866773"/>
            </a:xfrm>
            <a:custGeom>
              <a:avLst/>
              <a:gdLst/>
              <a:ahLst/>
              <a:cxnLst/>
              <a:rect r="r" b="b" t="t" l="l"/>
              <a:pathLst>
                <a:path h="1866773" w="5194681">
                  <a:moveTo>
                    <a:pt x="0" y="0"/>
                  </a:moveTo>
                  <a:lnTo>
                    <a:pt x="5194681" y="0"/>
                  </a:lnTo>
                  <a:lnTo>
                    <a:pt x="5194681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274454" y="2086461"/>
            <a:ext cx="57198" cy="1400127"/>
            <a:chOff x="0" y="0"/>
            <a:chExt cx="76264" cy="18668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200" cy="1866773"/>
            </a:xfrm>
            <a:custGeom>
              <a:avLst/>
              <a:gdLst/>
              <a:ahLst/>
              <a:cxnLst/>
              <a:rect r="r" b="b" t="t" l="l"/>
              <a:pathLst>
                <a:path h="1866773" w="76200">
                  <a:moveTo>
                    <a:pt x="0" y="0"/>
                  </a:moveTo>
                  <a:lnTo>
                    <a:pt x="76200" y="0"/>
                  </a:lnTo>
                  <a:lnTo>
                    <a:pt x="76200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548993" y="2231012"/>
            <a:ext cx="3484188" cy="109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302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5.43%</a:t>
            </a:r>
          </a:p>
          <a:p>
            <a:pPr algn="l">
              <a:lnSpc>
                <a:spcPts val="2118"/>
              </a:lnSpc>
            </a:pPr>
            <a:r>
              <a:rPr lang="en-US" sz="1576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default rate — 46,467 defaults, 17.4 : 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417525" y="2086461"/>
            <a:ext cx="3895982" cy="1400127"/>
            <a:chOff x="0" y="0"/>
            <a:chExt cx="5194643" cy="18668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94681" cy="1866773"/>
            </a:xfrm>
            <a:custGeom>
              <a:avLst/>
              <a:gdLst/>
              <a:ahLst/>
              <a:cxnLst/>
              <a:rect r="r" b="b" t="t" l="l"/>
              <a:pathLst>
                <a:path h="1866773" w="5194681">
                  <a:moveTo>
                    <a:pt x="0" y="0"/>
                  </a:moveTo>
                  <a:lnTo>
                    <a:pt x="5194681" y="0"/>
                  </a:lnTo>
                  <a:lnTo>
                    <a:pt x="5194681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417525" y="2086461"/>
            <a:ext cx="57198" cy="1400127"/>
            <a:chOff x="0" y="0"/>
            <a:chExt cx="76264" cy="18668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1866773"/>
            </a:xfrm>
            <a:custGeom>
              <a:avLst/>
              <a:gdLst/>
              <a:ahLst/>
              <a:cxnLst/>
              <a:rect r="r" b="b" t="t" l="l"/>
              <a:pathLst>
                <a:path h="1866773" w="76200">
                  <a:moveTo>
                    <a:pt x="0" y="0"/>
                  </a:moveTo>
                  <a:lnTo>
                    <a:pt x="76200" y="0"/>
                  </a:lnTo>
                  <a:lnTo>
                    <a:pt x="76200" y="1866773"/>
                  </a:lnTo>
                  <a:lnTo>
                    <a:pt x="0" y="1866773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692064" y="2231012"/>
            <a:ext cx="3484188" cy="109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302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  <a:p>
            <a:pPr algn="l">
              <a:lnSpc>
                <a:spcPts val="2118"/>
              </a:lnSpc>
            </a:pPr>
            <a:r>
              <a:rPr lang="en-US" sz="1576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rows lost — 100% retained after cleaning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8324" y="4089444"/>
            <a:ext cx="9883245" cy="333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1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Mixed types.</a:t>
            </a:r>
            <a:r>
              <a:rPr lang="en-US" sz="21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Numeric, categorical and date columns; several arrive as text — '36 months', '83.7%', dd-MM-yyyy — and are cast explicitly.</a:t>
            </a:r>
          </a:p>
          <a:p>
            <a:pPr algn="l">
              <a:lnSpc>
                <a:spcPts val="2925"/>
              </a:lnSpc>
            </a:pPr>
            <a:r>
              <a:rPr lang="en-US" sz="21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Sparsity.</a:t>
            </a:r>
            <a:r>
              <a:rPr lang="en-US" sz="21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42 of 73 columns are fully populated; 21 are more than half empty (the joint-application and instalment-line blocks) and were dropped.</a:t>
            </a:r>
          </a:p>
          <a:p>
            <a:pPr algn="l">
              <a:lnSpc>
                <a:spcPts val="2925"/>
              </a:lnSpc>
            </a:pPr>
            <a:r>
              <a:rPr lang="en-US" sz="21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Keys and constants.</a:t>
            </a:r>
            <a:r>
              <a:rPr lang="en-US" sz="21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id and member_id are unique across all 855k rows; policy_code has a single distinct value; pymnt_plan is degenerate.</a:t>
            </a:r>
          </a:p>
          <a:p>
            <a:pPr algn="l">
              <a:lnSpc>
                <a:spcPts val="2925"/>
              </a:lnSpc>
            </a:pPr>
            <a:r>
              <a:rPr lang="en-US" sz="21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Quality fixes.</a:t>
            </a:r>
            <a:r>
              <a:rPr lang="en-US" sz="21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revol_util capped at 150 and dti at 100 to tame implausible tails; no duplicate rows and no missing targets were found.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352000" y="4306853"/>
            <a:ext cx="5961517" cy="3946236"/>
            <a:chOff x="0" y="0"/>
            <a:chExt cx="7948689" cy="5261648"/>
          </a:xfrm>
        </p:grpSpPr>
        <p:sp>
          <p:nvSpPr>
            <p:cNvPr name="Freeform 32" id="32" descr="class_balance.png"/>
            <p:cNvSpPr/>
            <p:nvPr/>
          </p:nvSpPr>
          <p:spPr>
            <a:xfrm flipH="false" flipV="false" rot="0">
              <a:off x="0" y="0"/>
              <a:ext cx="7948676" cy="5261610"/>
            </a:xfrm>
            <a:custGeom>
              <a:avLst/>
              <a:gdLst/>
              <a:ahLst/>
              <a:cxnLst/>
              <a:rect r="r" b="b" t="t" l="l"/>
              <a:pathLst>
                <a:path h="5261610" w="7948676">
                  <a:moveTo>
                    <a:pt x="0" y="0"/>
                  </a:moveTo>
                  <a:lnTo>
                    <a:pt x="7948676" y="0"/>
                  </a:lnTo>
                  <a:lnTo>
                    <a:pt x="7948676" y="5261610"/>
                  </a:lnTo>
                  <a:lnTo>
                    <a:pt x="0" y="5261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1352000" y="8560156"/>
            <a:ext cx="5961517" cy="23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501" i="true">
                <a:solidFill>
                  <a:srgbClr val="64748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Stage 1 — class balance of default_ind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End-to-End Workflow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8324" y="2361000"/>
            <a:ext cx="3129696" cy="2059010"/>
            <a:chOff x="0" y="0"/>
            <a:chExt cx="4172928" cy="27453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72966" cy="2745359"/>
            </a:xfrm>
            <a:custGeom>
              <a:avLst/>
              <a:gdLst/>
              <a:ahLst/>
              <a:cxnLst/>
              <a:rect r="r" b="b" t="t" l="l"/>
              <a:pathLst>
                <a:path h="2745359" w="4172966">
                  <a:moveTo>
                    <a:pt x="0" y="0"/>
                  </a:moveTo>
                  <a:lnTo>
                    <a:pt x="4172966" y="0"/>
                  </a:lnTo>
                  <a:lnTo>
                    <a:pt x="4172966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80500" y="2553167"/>
            <a:ext cx="2745343" cy="1674660"/>
            <a:chOff x="0" y="0"/>
            <a:chExt cx="3660458" cy="2232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0458" cy="2232885"/>
            </a:xfrm>
            <a:custGeom>
              <a:avLst/>
              <a:gdLst/>
              <a:ahLst/>
              <a:cxnLst/>
              <a:rect r="r" b="b" t="t" l="l"/>
              <a:pathLst>
                <a:path h="2232885" w="3660458">
                  <a:moveTo>
                    <a:pt x="0" y="0"/>
                  </a:moveTo>
                  <a:lnTo>
                    <a:pt x="3660458" y="0"/>
                  </a:lnTo>
                  <a:lnTo>
                    <a:pt x="3660458" y="2232885"/>
                  </a:lnTo>
                  <a:lnTo>
                    <a:pt x="0" y="22328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265" t="0" r="-28265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660458" cy="2251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4"/>
                </a:lnSpc>
              </a:pPr>
              <a:r>
                <a:rPr lang="en-US" sz="2101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data.csv</a:t>
              </a:r>
            </a:p>
            <a:p>
              <a:pPr algn="ctr">
                <a:lnSpc>
                  <a:spcPts val="2071"/>
                </a:lnSpc>
              </a:pPr>
              <a:r>
                <a:rPr lang="en-US" sz="1501">
                  <a:solidFill>
                    <a:srgbClr val="B8CAD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855,969 × 73</a:t>
              </a:r>
            </a:p>
            <a:p>
              <a:pPr algn="ctr">
                <a:lnSpc>
                  <a:spcPts val="2071"/>
                </a:lnSpc>
              </a:pPr>
              <a:r>
                <a:rPr lang="en-US" sz="1501">
                  <a:solidFill>
                    <a:srgbClr val="B8CAD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raw Lending Club extract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118019" y="2961608"/>
            <a:ext cx="494167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251" b="true">
                <a:solidFill>
                  <a:srgbClr val="E07A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▶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612176" y="2361000"/>
            <a:ext cx="3129696" cy="2059010"/>
            <a:chOff x="0" y="0"/>
            <a:chExt cx="4172928" cy="27453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172966" cy="2745359"/>
            </a:xfrm>
            <a:custGeom>
              <a:avLst/>
              <a:gdLst/>
              <a:ahLst/>
              <a:cxnLst/>
              <a:rect r="r" b="b" t="t" l="l"/>
              <a:pathLst>
                <a:path h="2745359" w="4172966">
                  <a:moveTo>
                    <a:pt x="0" y="0"/>
                  </a:moveTo>
                  <a:lnTo>
                    <a:pt x="4172966" y="0"/>
                  </a:lnTo>
                  <a:lnTo>
                    <a:pt x="4172966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2E6DA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804353" y="2553167"/>
            <a:ext cx="2745343" cy="1674660"/>
            <a:chOff x="0" y="0"/>
            <a:chExt cx="3660458" cy="2232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60458" cy="2232885"/>
            </a:xfrm>
            <a:custGeom>
              <a:avLst/>
              <a:gdLst/>
              <a:ahLst/>
              <a:cxnLst/>
              <a:rect r="r" b="b" t="t" l="l"/>
              <a:pathLst>
                <a:path h="2232885" w="3660458">
                  <a:moveTo>
                    <a:pt x="0" y="0"/>
                  </a:moveTo>
                  <a:lnTo>
                    <a:pt x="3660458" y="0"/>
                  </a:lnTo>
                  <a:lnTo>
                    <a:pt x="3660458" y="2232885"/>
                  </a:lnTo>
                  <a:lnTo>
                    <a:pt x="0" y="22328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265" t="0" r="-28265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3660458" cy="2251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4"/>
                </a:lnSpc>
              </a:pPr>
              <a:r>
                <a:rPr lang="en-US" sz="2101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STAGE 1</a:t>
              </a:r>
            </a:p>
            <a:p>
              <a:pPr algn="ctr">
                <a:lnSpc>
                  <a:spcPts val="2774"/>
                </a:lnSpc>
              </a:pPr>
              <a:r>
                <a:rPr lang="en-US" sz="2101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Spark EDA</a:t>
              </a:r>
            </a:p>
            <a:p>
              <a:pPr algn="ctr">
                <a:lnSpc>
                  <a:spcPts val="2071"/>
                </a:lnSpc>
              </a:pPr>
              <a:r>
                <a:rPr lang="en-US" sz="1501">
                  <a:solidFill>
                    <a:srgbClr val="B8CAD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DataFrame + RDD APIs</a:t>
              </a:r>
            </a:p>
            <a:p>
              <a:pPr algn="ctr">
                <a:lnSpc>
                  <a:spcPts val="2071"/>
                </a:lnSpc>
              </a:pPr>
              <a:r>
                <a:rPr lang="en-US" sz="1501">
                  <a:solidFill>
                    <a:srgbClr val="B8CAD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no pandas, no sklearn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741872" y="2961608"/>
            <a:ext cx="494167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251" b="true">
                <a:solidFill>
                  <a:srgbClr val="E07A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▶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236029" y="2361000"/>
            <a:ext cx="3129696" cy="2059010"/>
            <a:chOff x="0" y="0"/>
            <a:chExt cx="4172928" cy="27453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72966" cy="2745359"/>
            </a:xfrm>
            <a:custGeom>
              <a:avLst/>
              <a:gdLst/>
              <a:ahLst/>
              <a:cxnLst/>
              <a:rect r="r" b="b" t="t" l="l"/>
              <a:pathLst>
                <a:path h="2745359" w="4172966">
                  <a:moveTo>
                    <a:pt x="0" y="0"/>
                  </a:moveTo>
                  <a:lnTo>
                    <a:pt x="4172966" y="0"/>
                  </a:lnTo>
                  <a:lnTo>
                    <a:pt x="4172966" y="2745359"/>
                  </a:lnTo>
                  <a:lnTo>
                    <a:pt x="0" y="2745359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428206" y="2553167"/>
            <a:ext cx="2745343" cy="1674660"/>
            <a:chOff x="0" y="0"/>
            <a:chExt cx="3660458" cy="22328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60458" cy="2232885"/>
            </a:xfrm>
            <a:custGeom>
              <a:avLst/>
              <a:gdLst/>
              <a:ahLst/>
              <a:cxnLst/>
              <a:rect r="r" b="b" t="t" l="l"/>
              <a:pathLst>
                <a:path h="2232885" w="3660458">
                  <a:moveTo>
                    <a:pt x="0" y="0"/>
                  </a:moveTo>
                  <a:lnTo>
                    <a:pt x="3660458" y="0"/>
                  </a:lnTo>
                  <a:lnTo>
                    <a:pt x="3660458" y="2232885"/>
                  </a:lnTo>
                  <a:lnTo>
                    <a:pt x="0" y="223288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8265" t="0" r="-2826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660458" cy="2251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74"/>
                </a:lnSpc>
              </a:pPr>
              <a:r>
                <a:rPr lang="en-US" sz="2101" b="true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data_clean.csv</a:t>
              </a:r>
            </a:p>
            <a:p>
              <a:pPr algn="ctr">
                <a:lnSpc>
                  <a:spcPts val="2071"/>
                </a:lnSpc>
              </a:pPr>
              <a:r>
                <a:rPr lang="en-US" sz="1501">
                  <a:solidFill>
                    <a:srgbClr val="B8CAD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855,969 × 38</a:t>
              </a:r>
            </a:p>
            <a:p>
              <a:pPr algn="ctr">
                <a:lnSpc>
                  <a:spcPts val="2071"/>
                </a:lnSpc>
              </a:pPr>
              <a:r>
                <a:rPr lang="en-US" sz="1501">
                  <a:solidFill>
                    <a:srgbClr val="B8CADB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single shared contract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1365725" y="2961608"/>
            <a:ext cx="494167" cy="63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251" b="true">
                <a:solidFill>
                  <a:srgbClr val="E07A2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▶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859882" y="2361000"/>
            <a:ext cx="5453634" cy="960872"/>
            <a:chOff x="0" y="0"/>
            <a:chExt cx="7271512" cy="12811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71512" cy="1281176"/>
            </a:xfrm>
            <a:custGeom>
              <a:avLst/>
              <a:gdLst/>
              <a:ahLst/>
              <a:cxnLst/>
              <a:rect r="r" b="b" t="t" l="l"/>
              <a:pathLst>
                <a:path h="1281176" w="7271512">
                  <a:moveTo>
                    <a:pt x="0" y="0"/>
                  </a:moveTo>
                  <a:lnTo>
                    <a:pt x="7271512" y="0"/>
                  </a:lnTo>
                  <a:lnTo>
                    <a:pt x="7271512" y="1281176"/>
                  </a:lnTo>
                  <a:lnTo>
                    <a:pt x="0" y="1281176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859882" y="2361000"/>
            <a:ext cx="57198" cy="960872"/>
            <a:chOff x="0" y="0"/>
            <a:chExt cx="76264" cy="128116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200" cy="1281176"/>
            </a:xfrm>
            <a:custGeom>
              <a:avLst/>
              <a:gdLst/>
              <a:ahLst/>
              <a:cxnLst/>
              <a:rect r="r" b="b" t="t" l="l"/>
              <a:pathLst>
                <a:path h="1281176" w="76200">
                  <a:moveTo>
                    <a:pt x="0" y="0"/>
                  </a:moveTo>
                  <a:lnTo>
                    <a:pt x="76200" y="0"/>
                  </a:lnTo>
                  <a:lnTo>
                    <a:pt x="76200" y="1281176"/>
                  </a:lnTo>
                  <a:lnTo>
                    <a:pt x="0" y="1281176"/>
                  </a:lnTo>
                  <a:close/>
                </a:path>
              </a:pathLst>
            </a:custGeom>
            <a:solidFill>
              <a:srgbClr val="2E6DA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2106970" y="2483415"/>
            <a:ext cx="4959467" cy="57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 ONE — Spark MLlib</a:t>
            </a:r>
          </a:p>
          <a:p>
            <a:pPr algn="l">
              <a:lnSpc>
                <a:spcPts val="2118"/>
              </a:lnSpc>
            </a:pPr>
            <a:r>
              <a:rPr lang="en-US" sz="1576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Logistic Regression · Random Forest · GBT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859882" y="3500314"/>
            <a:ext cx="5453634" cy="960872"/>
            <a:chOff x="0" y="0"/>
            <a:chExt cx="7271512" cy="12811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71512" cy="1281176"/>
            </a:xfrm>
            <a:custGeom>
              <a:avLst/>
              <a:gdLst/>
              <a:ahLst/>
              <a:cxnLst/>
              <a:rect r="r" b="b" t="t" l="l"/>
              <a:pathLst>
                <a:path h="1281176" w="7271512">
                  <a:moveTo>
                    <a:pt x="0" y="0"/>
                  </a:moveTo>
                  <a:lnTo>
                    <a:pt x="7271512" y="0"/>
                  </a:lnTo>
                  <a:lnTo>
                    <a:pt x="7271512" y="1281176"/>
                  </a:lnTo>
                  <a:lnTo>
                    <a:pt x="0" y="1281176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859882" y="3500314"/>
            <a:ext cx="57198" cy="960872"/>
            <a:chOff x="0" y="0"/>
            <a:chExt cx="76264" cy="12811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6200" cy="1281176"/>
            </a:xfrm>
            <a:custGeom>
              <a:avLst/>
              <a:gdLst/>
              <a:ahLst/>
              <a:cxnLst/>
              <a:rect r="r" b="b" t="t" l="l"/>
              <a:pathLst>
                <a:path h="1281176" w="76200">
                  <a:moveTo>
                    <a:pt x="0" y="0"/>
                  </a:moveTo>
                  <a:lnTo>
                    <a:pt x="76200" y="0"/>
                  </a:lnTo>
                  <a:lnTo>
                    <a:pt x="76200" y="1281176"/>
                  </a:lnTo>
                  <a:lnTo>
                    <a:pt x="0" y="1281176"/>
                  </a:lnTo>
                  <a:close/>
                </a:path>
              </a:pathLst>
            </a:custGeom>
            <a:solidFill>
              <a:srgbClr val="2E7D5B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2106970" y="3622729"/>
            <a:ext cx="4959467" cy="57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 TWO — TensorFlow / Keras</a:t>
            </a:r>
          </a:p>
          <a:p>
            <a:pPr algn="l">
              <a:lnSpc>
                <a:spcPts val="2118"/>
              </a:lnSpc>
            </a:pPr>
            <a:r>
              <a:rPr lang="en-US" sz="1576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LogisticNN · MLP (64/32) · DeepMLP (128/64/32)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88324" y="5106343"/>
            <a:ext cx="16325193" cy="19069"/>
            <a:chOff x="0" y="0"/>
            <a:chExt cx="21766924" cy="254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766912" cy="25400"/>
            </a:xfrm>
            <a:custGeom>
              <a:avLst/>
              <a:gdLst/>
              <a:ahLst/>
              <a:cxnLst/>
              <a:rect r="r" b="b" t="t" l="l"/>
              <a:pathLst>
                <a:path h="25400" w="21766912">
                  <a:moveTo>
                    <a:pt x="0" y="0"/>
                  </a:moveTo>
                  <a:lnTo>
                    <a:pt x="21766912" y="0"/>
                  </a:lnTo>
                  <a:lnTo>
                    <a:pt x="2176691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8DFE6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88324" y="5393484"/>
            <a:ext cx="16325193" cy="274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651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THIS SHAPE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81170" y="5963974"/>
            <a:ext cx="3910289" cy="2965542"/>
            <a:chOff x="0" y="0"/>
            <a:chExt cx="5213718" cy="39540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13731" cy="3954018"/>
            </a:xfrm>
            <a:custGeom>
              <a:avLst/>
              <a:gdLst/>
              <a:ahLst/>
              <a:cxnLst/>
              <a:rect r="r" b="b" t="t" l="l"/>
              <a:pathLst>
                <a:path h="3954018" w="5213731">
                  <a:moveTo>
                    <a:pt x="0" y="0"/>
                  </a:moveTo>
                  <a:lnTo>
                    <a:pt x="5213731" y="0"/>
                  </a:lnTo>
                  <a:lnTo>
                    <a:pt x="5213731" y="3954018"/>
                  </a:lnTo>
                  <a:lnTo>
                    <a:pt x="0" y="3954018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88324" y="5971127"/>
            <a:ext cx="3895982" cy="57198"/>
            <a:chOff x="0" y="0"/>
            <a:chExt cx="5194643" cy="762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94681" cy="76200"/>
            </a:xfrm>
            <a:custGeom>
              <a:avLst/>
              <a:gdLst/>
              <a:ahLst/>
              <a:cxnLst/>
              <a:rect r="r" b="b" t="t" l="l"/>
              <a:pathLst>
                <a:path h="76200" w="5194681">
                  <a:moveTo>
                    <a:pt x="0" y="0"/>
                  </a:moveTo>
                  <a:lnTo>
                    <a:pt x="5194681" y="0"/>
                  </a:lnTo>
                  <a:lnTo>
                    <a:pt x="519468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235402" y="6207557"/>
            <a:ext cx="3401825" cy="2178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195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cleaning pass, two stacks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Stage 1 writes a single canonical file. Both Stage 2 processes read it, so any difference in the results comes from the model, not the preprocessing.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5124240" y="5963974"/>
            <a:ext cx="3910289" cy="2965542"/>
            <a:chOff x="0" y="0"/>
            <a:chExt cx="5213718" cy="39540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213731" cy="3954018"/>
            </a:xfrm>
            <a:custGeom>
              <a:avLst/>
              <a:gdLst/>
              <a:ahLst/>
              <a:cxnLst/>
              <a:rect r="r" b="b" t="t" l="l"/>
              <a:pathLst>
                <a:path h="3954018" w="5213731">
                  <a:moveTo>
                    <a:pt x="0" y="0"/>
                  </a:moveTo>
                  <a:lnTo>
                    <a:pt x="5213731" y="0"/>
                  </a:lnTo>
                  <a:lnTo>
                    <a:pt x="5213731" y="3954018"/>
                  </a:lnTo>
                  <a:lnTo>
                    <a:pt x="0" y="3954018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5131394" y="5971127"/>
            <a:ext cx="3895982" cy="57198"/>
            <a:chOff x="0" y="0"/>
            <a:chExt cx="5194643" cy="7626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94681" cy="76200"/>
            </a:xfrm>
            <a:custGeom>
              <a:avLst/>
              <a:gdLst/>
              <a:ahLst/>
              <a:cxnLst/>
              <a:rect r="r" b="b" t="t" l="l"/>
              <a:pathLst>
                <a:path h="76200" w="5194681">
                  <a:moveTo>
                    <a:pt x="0" y="0"/>
                  </a:moveTo>
                  <a:lnTo>
                    <a:pt x="5194681" y="0"/>
                  </a:lnTo>
                  <a:lnTo>
                    <a:pt x="519468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5378472" y="6207557"/>
            <a:ext cx="3401825" cy="184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195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Identical split protocol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Stratified 64 / 16 / 20, class weights from the training fold only, threshold tuned on validation, test touched exactly once.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267311" y="5963974"/>
            <a:ext cx="3910289" cy="2965542"/>
            <a:chOff x="0" y="0"/>
            <a:chExt cx="5213718" cy="39540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13731" cy="3954018"/>
            </a:xfrm>
            <a:custGeom>
              <a:avLst/>
              <a:gdLst/>
              <a:ahLst/>
              <a:cxnLst/>
              <a:rect r="r" b="b" t="t" l="l"/>
              <a:pathLst>
                <a:path h="3954018" w="5213731">
                  <a:moveTo>
                    <a:pt x="0" y="0"/>
                  </a:moveTo>
                  <a:lnTo>
                    <a:pt x="5213731" y="0"/>
                  </a:lnTo>
                  <a:lnTo>
                    <a:pt x="5213731" y="3954018"/>
                  </a:lnTo>
                  <a:lnTo>
                    <a:pt x="0" y="3954018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274454" y="5971127"/>
            <a:ext cx="3895982" cy="57198"/>
            <a:chOff x="0" y="0"/>
            <a:chExt cx="5194643" cy="762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194681" cy="76200"/>
            </a:xfrm>
            <a:custGeom>
              <a:avLst/>
              <a:gdLst/>
              <a:ahLst/>
              <a:cxnLst/>
              <a:rect r="r" b="b" t="t" l="l"/>
              <a:pathLst>
                <a:path h="76200" w="5194681">
                  <a:moveTo>
                    <a:pt x="0" y="0"/>
                  </a:moveTo>
                  <a:lnTo>
                    <a:pt x="5194681" y="0"/>
                  </a:lnTo>
                  <a:lnTo>
                    <a:pt x="519468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9521542" y="6207557"/>
            <a:ext cx="3401825" cy="1845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195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Spark where the data is big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Stage 1 runs over all 855,969 rows in Spark. Keras needs a dense in-memory matrix, so Stage 2 works on a shared 30% stratified sample.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3410381" y="5963974"/>
            <a:ext cx="3910289" cy="2965542"/>
            <a:chOff x="0" y="0"/>
            <a:chExt cx="5213718" cy="39540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213731" cy="3954018"/>
            </a:xfrm>
            <a:custGeom>
              <a:avLst/>
              <a:gdLst/>
              <a:ahLst/>
              <a:cxnLst/>
              <a:rect r="r" b="b" t="t" l="l"/>
              <a:pathLst>
                <a:path h="3954018" w="5213731">
                  <a:moveTo>
                    <a:pt x="0" y="0"/>
                  </a:moveTo>
                  <a:lnTo>
                    <a:pt x="5213731" y="0"/>
                  </a:lnTo>
                  <a:lnTo>
                    <a:pt x="5213731" y="3954018"/>
                  </a:lnTo>
                  <a:lnTo>
                    <a:pt x="0" y="3954018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3417525" y="5971127"/>
            <a:ext cx="3895982" cy="57198"/>
            <a:chOff x="0" y="0"/>
            <a:chExt cx="5194643" cy="762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94681" cy="76200"/>
            </a:xfrm>
            <a:custGeom>
              <a:avLst/>
              <a:gdLst/>
              <a:ahLst/>
              <a:cxnLst/>
              <a:rect r="r" b="b" t="t" l="l"/>
              <a:pathLst>
                <a:path h="76200" w="5194681">
                  <a:moveTo>
                    <a:pt x="0" y="0"/>
                  </a:moveTo>
                  <a:lnTo>
                    <a:pt x="5194681" y="0"/>
                  </a:lnTo>
                  <a:lnTo>
                    <a:pt x="519468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3664603" y="6207557"/>
            <a:ext cx="3401825" cy="187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3"/>
              </a:lnSpc>
            </a:pPr>
            <a:r>
              <a:rPr lang="en-US" sz="195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Reproducible by construction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Fixed seeds, timestamped run folders, a runs.log and a pinned final/ directory that every figure in this deck comes from.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9627" cy="10295039"/>
            <a:chOff x="0" y="0"/>
            <a:chExt cx="292837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86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21745" y="3601441"/>
            <a:ext cx="1214041" cy="128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1"/>
              </a:lnSpc>
            </a:pPr>
            <a:r>
              <a:rPr lang="en-US" sz="7806" b="true">
                <a:solidFill>
                  <a:srgbClr val="2E517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21745" y="4796790"/>
            <a:ext cx="14413059" cy="89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3"/>
              </a:lnSpc>
            </a:pPr>
            <a:r>
              <a:rPr lang="en-US" sz="540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1 — Data Exploration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1745" y="5942552"/>
            <a:ext cx="14413059" cy="3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251">
                <a:solidFill>
                  <a:srgbClr val="9EB6CC"/>
                </a:solidFill>
                <a:latin typeface="Canva Sans"/>
                <a:ea typeface="Canva Sans"/>
                <a:cs typeface="Canva Sans"/>
                <a:sym typeface="Canva Sans"/>
              </a:rPr>
              <a:t>Apache Spark DataFrame and RDD APIs only · no pandas, no scikit-learn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1 · METHOD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We Explored 855,969 Loans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8324" y="2196274"/>
            <a:ext cx="631431" cy="631431"/>
            <a:chOff x="0" y="0"/>
            <a:chExt cx="841908" cy="8419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88324" y="2277513"/>
            <a:ext cx="631431" cy="3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25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94284" y="2140248"/>
            <a:ext cx="6913464" cy="97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1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Parser sanity check</a:t>
            </a:r>
          </a:p>
          <a:p>
            <a:pPr algn="l">
              <a:lnSpc>
                <a:spcPts val="2527"/>
              </a:lnSpc>
            </a:pPr>
            <a:r>
              <a:rPr lang="en-US" sz="17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Compare the parsed record count against a raw RDD line count so that a mis-quoted CSV cannot silently drop rows.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8324" y="3774853"/>
            <a:ext cx="631431" cy="631431"/>
            <a:chOff x="0" y="0"/>
            <a:chExt cx="841908" cy="8419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8324" y="3856091"/>
            <a:ext cx="631431" cy="3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25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94284" y="3718817"/>
            <a:ext cx="6913464" cy="97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1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Integrity</a:t>
            </a:r>
          </a:p>
          <a:p>
            <a:pPr algn="l">
              <a:lnSpc>
                <a:spcPts val="2527"/>
              </a:lnSpc>
            </a:pPr>
            <a:r>
              <a:rPr lang="en-US" sz="17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Duplicate rows, duplicate ids, null counts for all 73 columns, and a per-column schema dump.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8324" y="5353421"/>
            <a:ext cx="631431" cy="631431"/>
            <a:chOff x="0" y="0"/>
            <a:chExt cx="841908" cy="8419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88324" y="5434660"/>
            <a:ext cx="631431" cy="3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25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94284" y="5297395"/>
            <a:ext cx="6913464" cy="97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1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Typing</a:t>
            </a:r>
          </a:p>
          <a:p>
            <a:pPr algn="l">
              <a:lnSpc>
                <a:spcPts val="2527"/>
              </a:lnSpc>
            </a:pPr>
            <a:r>
              <a:rPr lang="en-US" sz="17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'36 months' → 36, '83.7%' → 83.7, dd-MM-yyyy → date, then derived ratios: loan_to_income, installment_to_income, bal_to_limit.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94091" y="2196274"/>
            <a:ext cx="631431" cy="631431"/>
            <a:chOff x="0" y="0"/>
            <a:chExt cx="841908" cy="8419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494091" y="2277513"/>
            <a:ext cx="631431" cy="3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25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00052" y="2140248"/>
            <a:ext cx="6913464" cy="97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1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Statistics</a:t>
            </a:r>
          </a:p>
          <a:p>
            <a:pPr algn="l">
              <a:lnSpc>
                <a:spcPts val="2527"/>
              </a:lnSpc>
            </a:pPr>
            <a:r>
              <a:rPr lang="en-US" sz="17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Summary statistics, class balance, class-conditional means and Pearson correlations with the target.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494091" y="3774853"/>
            <a:ext cx="631431" cy="631431"/>
            <a:chOff x="0" y="0"/>
            <a:chExt cx="841908" cy="8419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494091" y="3856091"/>
            <a:ext cx="631431" cy="3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25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00052" y="3718817"/>
            <a:ext cx="6913464" cy="97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1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Categorical risk</a:t>
            </a:r>
          </a:p>
          <a:p>
            <a:pPr algn="l">
              <a:lnSpc>
                <a:spcPts val="2527"/>
              </a:lnSpc>
            </a:pPr>
            <a:r>
              <a:rPr lang="en-US" sz="17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Default rate by grade, sub_grade, term, purpose, home_ownership, verification_status, emp_length and addr_state.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94091" y="5353421"/>
            <a:ext cx="631431" cy="631431"/>
            <a:chOff x="0" y="0"/>
            <a:chExt cx="841908" cy="8419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1883" cy="841883"/>
            </a:xfrm>
            <a:custGeom>
              <a:avLst/>
              <a:gdLst/>
              <a:ahLst/>
              <a:cxnLst/>
              <a:rect r="r" b="b" t="t" l="l"/>
              <a:pathLst>
                <a:path h="841883" w="841883">
                  <a:moveTo>
                    <a:pt x="0" y="0"/>
                  </a:moveTo>
                  <a:lnTo>
                    <a:pt x="841883" y="0"/>
                  </a:lnTo>
                  <a:lnTo>
                    <a:pt x="841883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494091" y="5434660"/>
            <a:ext cx="631431" cy="3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6"/>
              </a:lnSpc>
            </a:pPr>
            <a:r>
              <a:rPr lang="en-US" sz="225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00052" y="5297395"/>
            <a:ext cx="6913464" cy="979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1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Selection</a:t>
            </a:r>
          </a:p>
          <a:p>
            <a:pPr algn="l">
              <a:lnSpc>
                <a:spcPts val="2527"/>
              </a:lnSpc>
            </a:pPr>
            <a:r>
              <a:rPr lang="en-US" sz="17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The 7 most and 7 least relevant attributes, each with a written justification, plus the leakage exclusion list.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88324" y="7275166"/>
            <a:ext cx="16325193" cy="1867691"/>
            <a:chOff x="0" y="0"/>
            <a:chExt cx="21766924" cy="24902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66912" cy="2490216"/>
            </a:xfrm>
            <a:custGeom>
              <a:avLst/>
              <a:gdLst/>
              <a:ahLst/>
              <a:cxnLst/>
              <a:rect r="r" b="b" t="t" l="l"/>
              <a:pathLst>
                <a:path h="2490216" w="21766912">
                  <a:moveTo>
                    <a:pt x="0" y="0"/>
                  </a:moveTo>
                  <a:lnTo>
                    <a:pt x="21766912" y="0"/>
                  </a:lnTo>
                  <a:lnTo>
                    <a:pt x="21766912" y="2490216"/>
                  </a:lnTo>
                  <a:lnTo>
                    <a:pt x="0" y="2490216"/>
                  </a:lnTo>
                  <a:close/>
                </a:path>
              </a:pathLst>
            </a:custGeom>
            <a:solidFill>
              <a:srgbClr val="0E223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88324" y="7275166"/>
            <a:ext cx="57198" cy="1867691"/>
            <a:chOff x="0" y="0"/>
            <a:chExt cx="76264" cy="24902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200" cy="2490216"/>
            </a:xfrm>
            <a:custGeom>
              <a:avLst/>
              <a:gdLst/>
              <a:ahLst/>
              <a:cxnLst/>
              <a:rect r="r" b="b" t="t" l="l"/>
              <a:pathLst>
                <a:path h="2490216" w="76200">
                  <a:moveTo>
                    <a:pt x="0" y="0"/>
                  </a:moveTo>
                  <a:lnTo>
                    <a:pt x="76200" y="0"/>
                  </a:lnTo>
                  <a:lnTo>
                    <a:pt x="76200" y="2490216"/>
                  </a:lnTo>
                  <a:lnTo>
                    <a:pt x="0" y="2490216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317765" y="7423918"/>
            <a:ext cx="15666310" cy="38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501" b="true">
                <a:solidFill>
                  <a:srgbClr val="F0A860"/>
                </a:solidFill>
                <a:latin typeface="Consolas Bold"/>
                <a:ea typeface="Consolas Bold"/>
                <a:cs typeface="Consolas Bold"/>
                <a:sym typeface="Consolas Bold"/>
              </a:rPr>
              <a:t>src/stage1_eda.py — parser sanity check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17765" y="7872698"/>
            <a:ext cx="15666310" cy="1077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8FA6B8"/>
                </a:solidFill>
                <a:latin typeface="Consolas"/>
                <a:ea typeface="Consolas"/>
                <a:cs typeface="Consolas"/>
                <a:sym typeface="Consolas"/>
              </a:rPr>
              <a:t># Spark only — the assignment forbids pandas / sklearn in Stage 1</a:t>
            </a:r>
          </a:p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raw_lines = spark.sparkContext.textFile(str(csv_path)).count() - 1</a:t>
            </a:r>
          </a:p>
          <a:p>
            <a:pPr algn="l">
              <a:lnSpc>
                <a:spcPts val="2175"/>
              </a:lnSpc>
            </a:pPr>
            <a:r>
              <a:rPr lang="en-US" sz="172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assert df.count() == raw_lines, 'the CSV parser lost or invented rows'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1 · FINDINGS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the Numbers Say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870710" y="2017833"/>
            <a:ext cx="6608531" cy="6245657"/>
            <a:chOff x="0" y="0"/>
            <a:chExt cx="8811374" cy="8327542"/>
          </a:xfrm>
        </p:grpSpPr>
        <p:sp>
          <p:nvSpPr>
            <p:cNvPr name="Freeform 11" id="11" descr="correlation_with_target.png"/>
            <p:cNvSpPr/>
            <p:nvPr/>
          </p:nvSpPr>
          <p:spPr>
            <a:xfrm flipH="false" flipV="false" rot="0">
              <a:off x="0" y="0"/>
              <a:ext cx="8811387" cy="8327517"/>
            </a:xfrm>
            <a:custGeom>
              <a:avLst/>
              <a:gdLst/>
              <a:ahLst/>
              <a:cxnLst/>
              <a:rect r="r" b="b" t="t" l="l"/>
              <a:pathLst>
                <a:path h="8327517" w="8811387">
                  <a:moveTo>
                    <a:pt x="0" y="0"/>
                  </a:moveTo>
                  <a:lnTo>
                    <a:pt x="8811387" y="0"/>
                  </a:lnTo>
                  <a:lnTo>
                    <a:pt x="8811387" y="8327517"/>
                  </a:lnTo>
                  <a:lnTo>
                    <a:pt x="0" y="8327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88324" y="8313068"/>
            <a:ext cx="8373304" cy="23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501" i="true">
                <a:solidFill>
                  <a:srgbClr val="64748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Pearson correlation of each numeric attribute with default_ind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16598" y="1979733"/>
            <a:ext cx="7196919" cy="480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Interest rate dominates.</a:t>
            </a:r>
            <a:r>
              <a:rPr lang="en-US" sz="20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int_rate is the single strongest numeric signal, r = +0.155. Defaults were priced at a mean 16.02% versus 13.03% for the rest, a 22.9% gap.</a:t>
            </a:r>
          </a:p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Everything else is weak.</a:t>
            </a:r>
            <a:r>
              <a:rPr lang="en-US" sz="20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No other attribute passes |r| = 0.13. The relationships are individually weak and non-linear, which is exactly the regime where trees and networks earn their keep over a linear rule.</a:t>
            </a:r>
          </a:p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Affordability shows up as ratios.</a:t>
            </a:r>
            <a:r>
              <a:rPr lang="en-US" sz="20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Raw annual_inc reaches only r = −0.037, but the derived loan_to_income lifts it to +0.050 and installment_to_income to +0.062 — feature engineering, not new data.</a:t>
            </a:r>
          </a:p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Thin files default more.</a:t>
            </a:r>
            <a:r>
              <a:rPr lang="en-US" sz="20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credit_history_years r = −0.047 and inq_last_6mths r = +0.074: short histories and recent credit-seeking both point the same way.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116598" y="7686961"/>
            <a:ext cx="7196919" cy="1509941"/>
            <a:chOff x="0" y="0"/>
            <a:chExt cx="9595891" cy="201325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95866" cy="2013204"/>
            </a:xfrm>
            <a:custGeom>
              <a:avLst/>
              <a:gdLst/>
              <a:ahLst/>
              <a:cxnLst/>
              <a:rect r="r" b="b" t="t" l="l"/>
              <a:pathLst>
                <a:path h="2013204" w="9595866">
                  <a:moveTo>
                    <a:pt x="0" y="0"/>
                  </a:moveTo>
                  <a:lnTo>
                    <a:pt x="9595866" y="0"/>
                  </a:lnTo>
                  <a:lnTo>
                    <a:pt x="9595866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116598" y="7686961"/>
            <a:ext cx="57198" cy="1509941"/>
            <a:chOff x="0" y="0"/>
            <a:chExt cx="76264" cy="20132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2013204"/>
            </a:xfrm>
            <a:custGeom>
              <a:avLst/>
              <a:gdLst/>
              <a:ahLst/>
              <a:cxnLst/>
              <a:rect r="r" b="b" t="t" l="l"/>
              <a:pathLst>
                <a:path h="2013204" w="76200">
                  <a:moveTo>
                    <a:pt x="0" y="0"/>
                  </a:moveTo>
                  <a:lnTo>
                    <a:pt x="76200" y="0"/>
                  </a:lnTo>
                  <a:lnTo>
                    <a:pt x="76200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2E6DA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418588" y="7865412"/>
            <a:ext cx="6620399" cy="1314319"/>
            <a:chOff x="0" y="0"/>
            <a:chExt cx="8827198" cy="17524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27198" cy="1752419"/>
            </a:xfrm>
            <a:custGeom>
              <a:avLst/>
              <a:gdLst/>
              <a:ahLst/>
              <a:cxnLst/>
              <a:rect r="r" b="b" t="t" l="l"/>
              <a:pathLst>
                <a:path h="1752419" w="8827198">
                  <a:moveTo>
                    <a:pt x="0" y="0"/>
                  </a:moveTo>
                  <a:lnTo>
                    <a:pt x="8827198" y="0"/>
                  </a:lnTo>
                  <a:lnTo>
                    <a:pt x="8827198" y="1752419"/>
                  </a:lnTo>
                  <a:lnTo>
                    <a:pt x="0" y="1752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84" r="0" b="-4201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827198" cy="1771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 b="true">
                  <a:solidFill>
                    <a:srgbClr val="2E6DA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CAVEAT WE RETURN TO</a:t>
              </a:r>
            </a:p>
            <a:p>
              <a:pPr algn="l">
                <a:lnSpc>
                  <a:spcPts val="2747"/>
                </a:lnSpc>
              </a:pPr>
              <a:r>
                <a:rPr lang="en-US" sz="1876">
                  <a:solidFill>
                    <a:srgbClr val="1C2B3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int_rate is Lending Club's own risk price. It is legitimately available at origination, but it means part of what we predict is what the lender already concluded.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1 · FINDINGS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Is Concentrated in the Credit Grade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871005" y="2086461"/>
            <a:ext cx="6607940" cy="4598451"/>
            <a:chOff x="0" y="0"/>
            <a:chExt cx="8810587" cy="6131268"/>
          </a:xfrm>
        </p:grpSpPr>
        <p:sp>
          <p:nvSpPr>
            <p:cNvPr name="Freeform 11" id="11" descr="default_rate_by_grade.png"/>
            <p:cNvSpPr/>
            <p:nvPr/>
          </p:nvSpPr>
          <p:spPr>
            <a:xfrm flipH="false" flipV="false" rot="0">
              <a:off x="0" y="0"/>
              <a:ext cx="8810625" cy="6131306"/>
            </a:xfrm>
            <a:custGeom>
              <a:avLst/>
              <a:gdLst/>
              <a:ahLst/>
              <a:cxnLst/>
              <a:rect r="r" b="b" t="t" l="l"/>
              <a:pathLst>
                <a:path h="6131306" w="8810625">
                  <a:moveTo>
                    <a:pt x="0" y="0"/>
                  </a:moveTo>
                  <a:lnTo>
                    <a:pt x="8810625" y="0"/>
                  </a:lnTo>
                  <a:lnTo>
                    <a:pt x="8810625" y="6131306"/>
                  </a:lnTo>
                  <a:lnTo>
                    <a:pt x="0" y="6131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88324" y="6734499"/>
            <a:ext cx="8373304" cy="23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501" i="true">
                <a:solidFill>
                  <a:srgbClr val="64748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Default rate by assigned credit grade (n = 855,969)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9979328" y="2086462"/>
          <a:ext cx="7282790" cy="4557712"/>
        </p:xfrm>
        <a:graphic>
          <a:graphicData uri="http://schemas.openxmlformats.org/drawingml/2006/table">
            <a:tbl>
              <a:tblPr/>
              <a:tblGrid>
                <a:gridCol w="1986214"/>
                <a:gridCol w="2648288"/>
                <a:gridCol w="2648288"/>
              </a:tblGrid>
              <a:tr h="5530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Grade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Loans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Default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</a:tr>
              <a:tr h="5720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145,665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1.83%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720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247,998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3.92%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0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236,855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5.49%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720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132,802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8.13%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0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66,448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9.72%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720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21,328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14.13%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0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4,873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16.70%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988324" y="7324744"/>
            <a:ext cx="8373304" cy="1701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Monotonic, 9× spread.</a:t>
            </a:r>
            <a:r>
              <a:rPr lang="en-US" sz="17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1.83% at grade A to 16.70% at grade G — the cleanest separation in the data.</a:t>
            </a:r>
          </a:p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Term adds exposure.</a:t>
            </a:r>
            <a:r>
              <a:rPr lang="en-US" sz="17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60-month loans default at 6.52% against 4.96% for 36-month loans.</a:t>
            </a:r>
          </a:p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Purpose is noisy.</a:t>
            </a:r>
            <a:r>
              <a:rPr lang="en-US" sz="17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'educational' is the riskiest stated purpose at 17.18% — but on only 326 loans.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79333" y="7343794"/>
            <a:ext cx="7334193" cy="1715843"/>
            <a:chOff x="0" y="0"/>
            <a:chExt cx="9778924" cy="22877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78873" cy="2287778"/>
            </a:xfrm>
            <a:custGeom>
              <a:avLst/>
              <a:gdLst/>
              <a:ahLst/>
              <a:cxnLst/>
              <a:rect r="r" b="b" t="t" l="l"/>
              <a:pathLst>
                <a:path h="2287778" w="9778873">
                  <a:moveTo>
                    <a:pt x="0" y="0"/>
                  </a:moveTo>
                  <a:lnTo>
                    <a:pt x="9778873" y="0"/>
                  </a:lnTo>
                  <a:lnTo>
                    <a:pt x="9778873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979333" y="7343794"/>
            <a:ext cx="57198" cy="1715843"/>
            <a:chOff x="0" y="0"/>
            <a:chExt cx="76264" cy="22877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2287778"/>
            </a:xfrm>
            <a:custGeom>
              <a:avLst/>
              <a:gdLst/>
              <a:ahLst/>
              <a:cxnLst/>
              <a:rect r="r" b="b" t="t" l="l"/>
              <a:pathLst>
                <a:path h="2287778" w="76200">
                  <a:moveTo>
                    <a:pt x="0" y="0"/>
                  </a:moveTo>
                  <a:lnTo>
                    <a:pt x="76200" y="0"/>
                  </a:lnTo>
                  <a:lnTo>
                    <a:pt x="76200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1314" y="7522245"/>
            <a:ext cx="6757664" cy="1358946"/>
            <a:chOff x="0" y="0"/>
            <a:chExt cx="9010218" cy="18119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10221" cy="1811933"/>
            </a:xfrm>
            <a:custGeom>
              <a:avLst/>
              <a:gdLst/>
              <a:ahLst/>
              <a:cxnLst/>
              <a:rect r="r" b="b" t="t" l="l"/>
              <a:pathLst>
                <a:path h="1811933" w="9010221">
                  <a:moveTo>
                    <a:pt x="0" y="0"/>
                  </a:moveTo>
                  <a:lnTo>
                    <a:pt x="9010221" y="0"/>
                  </a:lnTo>
                  <a:lnTo>
                    <a:pt x="9010221" y="1811933"/>
                  </a:lnTo>
                  <a:lnTo>
                    <a:pt x="0" y="18119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893" r="0" b="-4689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9010218" cy="18309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 b="true">
                  <a:solidFill>
                    <a:srgbClr val="2E7D5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ENCODING DECISION</a:t>
              </a:r>
            </a:p>
            <a:p>
              <a:pPr algn="l">
                <a:lnSpc>
                  <a:spcPts val="2747"/>
                </a:lnSpc>
              </a:pPr>
              <a:r>
                <a:rPr lang="en-US" sz="1876">
                  <a:solidFill>
                    <a:srgbClr val="1C2B3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Grade is ordinal, so we encode it as grade_ord rather than as seven unordered dummies — the model gets the ordering for free.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1 · ATTRIBUTE RELEVANCE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Seven Most Relevant Attributes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88324" y="2086462"/>
          <a:ext cx="16262355" cy="6478031"/>
        </p:xfrm>
        <a:graphic>
          <a:graphicData uri="http://schemas.openxmlformats.org/drawingml/2006/table">
            <a:tbl>
              <a:tblPr/>
              <a:tblGrid>
                <a:gridCol w="542078"/>
                <a:gridCol w="2981432"/>
                <a:gridCol w="1897275"/>
                <a:gridCol w="10841571"/>
              </a:tblGrid>
              <a:tr h="5528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#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Attribute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Evidence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Justification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</a:tr>
              <a:tr h="8578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int_rate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 = +0.155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Strongest single numeric signal — the risk-based price Lending Club charges summarises its own underwriting view.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8578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grade / sub_grade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9× spread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Default rate climbs monotonically from 1.83% (A) to 16.70% (G): a 14.88-point spread across seven bands.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788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term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 = +0.031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1.55-point spread between the two terms; a 60-month loan is exposed for twice as long as a 36-month one.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837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dti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 = +0.010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The standard measure of repayment capacity, and it is available at application time.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7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revol_util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 = +0.045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Revolving utilisation shows how much headroom the borrower has already consumed.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837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inq_last_6mths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 = +0.074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Recent credit enquiries proxy active credit seeking — an early distress signal.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7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annual_inc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 = −0.037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51"/>
                        </a:lnSpc>
                        <a:defRPr/>
                      </a:pPr>
                      <a:r>
                        <a:rPr lang="en-US" sz="1876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Income anchors every affordability ratio; the derived loan_to_income reaches r = +0.050.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988324" y="8304667"/>
            <a:ext cx="16325193" cy="1098137"/>
            <a:chOff x="0" y="0"/>
            <a:chExt cx="21766924" cy="14641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66912" cy="1464183"/>
            </a:xfrm>
            <a:custGeom>
              <a:avLst/>
              <a:gdLst/>
              <a:ahLst/>
              <a:cxnLst/>
              <a:rect r="r" b="b" t="t" l="l"/>
              <a:pathLst>
                <a:path h="1464183" w="21766912">
                  <a:moveTo>
                    <a:pt x="0" y="0"/>
                  </a:moveTo>
                  <a:lnTo>
                    <a:pt x="21766912" y="0"/>
                  </a:lnTo>
                  <a:lnTo>
                    <a:pt x="21766912" y="1464183"/>
                  </a:lnTo>
                  <a:lnTo>
                    <a:pt x="0" y="1464183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88324" y="8304667"/>
            <a:ext cx="57198" cy="1098137"/>
            <a:chOff x="0" y="0"/>
            <a:chExt cx="76264" cy="14641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200" cy="1464183"/>
            </a:xfrm>
            <a:custGeom>
              <a:avLst/>
              <a:gdLst/>
              <a:ahLst/>
              <a:cxnLst/>
              <a:rect r="r" b="b" t="t" l="l"/>
              <a:pathLst>
                <a:path h="1464183" w="76200">
                  <a:moveTo>
                    <a:pt x="0" y="0"/>
                  </a:moveTo>
                  <a:lnTo>
                    <a:pt x="76200" y="0"/>
                  </a:lnTo>
                  <a:lnTo>
                    <a:pt x="76200" y="1464183"/>
                  </a:lnTo>
                  <a:lnTo>
                    <a:pt x="0" y="1464183"/>
                  </a:lnTo>
                  <a:close/>
                </a:path>
              </a:pathLst>
            </a:custGeom>
            <a:solidFill>
              <a:srgbClr val="2E6DA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90314" y="8483117"/>
            <a:ext cx="15748673" cy="741243"/>
            <a:chOff x="0" y="0"/>
            <a:chExt cx="20998231" cy="98832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998227" cy="988322"/>
            </a:xfrm>
            <a:custGeom>
              <a:avLst/>
              <a:gdLst/>
              <a:ahLst/>
              <a:cxnLst/>
              <a:rect r="r" b="b" t="t" l="l"/>
              <a:pathLst>
                <a:path h="988322" w="20998227">
                  <a:moveTo>
                    <a:pt x="0" y="0"/>
                  </a:moveTo>
                  <a:lnTo>
                    <a:pt x="20998227" y="0"/>
                  </a:lnTo>
                  <a:lnTo>
                    <a:pt x="20998227" y="988322"/>
                  </a:lnTo>
                  <a:lnTo>
                    <a:pt x="0" y="98832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3985" r="0" b="-36398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0998231" cy="1035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7"/>
                </a:lnSpc>
              </a:pPr>
              <a:r>
                <a:rPr lang="en-US" sz="1876">
                  <a:solidFill>
                    <a:srgbClr val="1C2B3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Selected on evidence, not intuition: correlation with the target for numeric attributes, and the spread in group default rate for categorical ones — both computed in Spark over all 855,969 rows.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1 · ATTRIBUTE RELEVANCE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Seven Least Relevant — and the Ones We Banned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88324" y="2086462"/>
          <a:ext cx="10123459" cy="6291263"/>
        </p:xfrm>
        <a:graphic>
          <a:graphicData uri="http://schemas.openxmlformats.org/drawingml/2006/table">
            <a:tbl>
              <a:tblPr/>
              <a:tblGrid>
                <a:gridCol w="465446"/>
                <a:gridCol w="2210870"/>
                <a:gridCol w="7447143"/>
              </a:tblGrid>
              <a:tr h="5528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#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Attribute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Why it was excluded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</a:tr>
              <a:tr h="8197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Surrogate loan key, unique for all 855k rows — pure noise, usable only through row order.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8197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member_id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Surrogate borrower key. Identifiers must never enter a credit model.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7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policy_code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Constant — a single distinct value, so it carries exactly zero information.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8197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pymnt_plan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Degenerate: fewer than 10 loans take the minority value, so it cannot generalise.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7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emp_title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Free text with tens of thousands of inconsistent spellings; unusable without NLP.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8197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title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Borrower-typed loan title that merely restates purpose, which is already encoded.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1977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zip_code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Truncated to three digits — coarse geography that addr_state covers more stably.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1626539" y="2086461"/>
            <a:ext cx="5686977" cy="4872990"/>
            <a:chOff x="0" y="0"/>
            <a:chExt cx="7582637" cy="6497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82662" cy="6497320"/>
            </a:xfrm>
            <a:custGeom>
              <a:avLst/>
              <a:gdLst/>
              <a:ahLst/>
              <a:cxnLst/>
              <a:rect r="r" b="b" t="t" l="l"/>
              <a:pathLst>
                <a:path h="6497320" w="7582662">
                  <a:moveTo>
                    <a:pt x="0" y="0"/>
                  </a:moveTo>
                  <a:lnTo>
                    <a:pt x="7582662" y="0"/>
                  </a:lnTo>
                  <a:lnTo>
                    <a:pt x="7582662" y="6497320"/>
                  </a:lnTo>
                  <a:lnTo>
                    <a:pt x="0" y="6497320"/>
                  </a:lnTo>
                  <a:close/>
                </a:path>
              </a:pathLst>
            </a:custGeom>
            <a:solidFill>
              <a:srgbClr val="FDF0E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626539" y="2086461"/>
            <a:ext cx="5686977" cy="57198"/>
            <a:chOff x="0" y="0"/>
            <a:chExt cx="7582637" cy="762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82662" cy="76200"/>
            </a:xfrm>
            <a:custGeom>
              <a:avLst/>
              <a:gdLst/>
              <a:ahLst/>
              <a:cxnLst/>
              <a:rect r="r" b="b" t="t" l="l"/>
              <a:pathLst>
                <a:path h="76200" w="7582662">
                  <a:moveTo>
                    <a:pt x="0" y="0"/>
                  </a:moveTo>
                  <a:lnTo>
                    <a:pt x="7582662" y="0"/>
                  </a:lnTo>
                  <a:lnTo>
                    <a:pt x="758266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969706" y="2359876"/>
            <a:ext cx="5000644" cy="447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8"/>
              </a:lnSpc>
            </a:pPr>
            <a:r>
              <a:rPr lang="en-US" sz="1576" b="true">
                <a:solidFill>
                  <a:srgbClr val="C039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SEPARATELY BANNED — TARGET LEAKAGE</a:t>
            </a:r>
          </a:p>
          <a:p>
            <a:pPr algn="l">
              <a:lnSpc>
                <a:spcPts val="2421"/>
              </a:lnSpc>
            </a:pPr>
            <a:r>
              <a:rPr lang="en-US" sz="180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13 columns that only exist after the loan is funded:</a:t>
            </a:r>
          </a:p>
          <a:p>
            <a:pPr algn="l">
              <a:lnSpc>
                <a:spcPts val="2651"/>
              </a:lnSpc>
            </a:pPr>
            <a:r>
              <a:rPr lang="en-US" sz="1726">
                <a:solidFill>
                  <a:srgbClr val="C0392B"/>
                </a:solidFill>
                <a:latin typeface="Canva Sans"/>
                <a:ea typeface="Canva Sans"/>
                <a:cs typeface="Canva Sans"/>
                <a:sym typeface="Canva Sans"/>
              </a:rPr>
              <a:t>out_prncp · out_prncp_inv · total_pymnt · total_pymnt_inv · total_rec_prncp · total_rec_int · total_rec_late_fee · recoveries · collection_recovery_fee · last_pymnt_d · last_pymnt_amnt · next_pymnt_d · last_credit_pull_d</a:t>
            </a:r>
          </a:p>
          <a:p>
            <a:pPr algn="l">
              <a:lnSpc>
                <a:spcPts val="2589"/>
              </a:lnSpc>
            </a:pPr>
            <a:r>
              <a:rPr lang="en-US" sz="17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These are not weak features — they are the answer. recoveries is non-zero only for loans that already defaulted. Including them would produce a near-perfect model that cannot score a single new application.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8324" y="7549696"/>
            <a:ext cx="16325193" cy="1166774"/>
            <a:chOff x="0" y="0"/>
            <a:chExt cx="21766924" cy="15556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66912" cy="1555750"/>
            </a:xfrm>
            <a:custGeom>
              <a:avLst/>
              <a:gdLst/>
              <a:ahLst/>
              <a:cxnLst/>
              <a:rect r="r" b="b" t="t" l="l"/>
              <a:pathLst>
                <a:path h="1555750" w="21766912">
                  <a:moveTo>
                    <a:pt x="0" y="0"/>
                  </a:moveTo>
                  <a:lnTo>
                    <a:pt x="21766912" y="0"/>
                  </a:lnTo>
                  <a:lnTo>
                    <a:pt x="21766912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88324" y="7549696"/>
            <a:ext cx="57198" cy="1166774"/>
            <a:chOff x="0" y="0"/>
            <a:chExt cx="76264" cy="15556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200" cy="1555750"/>
            </a:xfrm>
            <a:custGeom>
              <a:avLst/>
              <a:gdLst/>
              <a:ahLst/>
              <a:cxnLst/>
              <a:rect r="r" b="b" t="t" l="l"/>
              <a:pathLst>
                <a:path h="1555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2E6DA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90314" y="7728147"/>
            <a:ext cx="15748673" cy="809877"/>
            <a:chOff x="0" y="0"/>
            <a:chExt cx="20998231" cy="10798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998227" cy="1079841"/>
            </a:xfrm>
            <a:custGeom>
              <a:avLst/>
              <a:gdLst/>
              <a:ahLst/>
              <a:cxnLst/>
              <a:rect r="r" b="b" t="t" l="l"/>
              <a:pathLst>
                <a:path h="1079841" w="20998227">
                  <a:moveTo>
                    <a:pt x="0" y="0"/>
                  </a:moveTo>
                  <a:lnTo>
                    <a:pt x="20998227" y="0"/>
                  </a:lnTo>
                  <a:lnTo>
                    <a:pt x="20998227" y="1079841"/>
                  </a:lnTo>
                  <a:lnTo>
                    <a:pt x="0" y="10798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8900" r="0" b="-32889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0998231" cy="1136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57"/>
                </a:lnSpc>
              </a:pPr>
              <a:r>
                <a:rPr lang="en-US" sz="1951">
                  <a:solidFill>
                    <a:srgbClr val="1C2B3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21 sparse columns (the joint-application and instalment-line blocks, all &gt;50% empty) and 4 free-text columns were dropped as well: 73 columns in, 48 out, 38 into the models.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9627" cy="10295039"/>
            <a:chOff x="0" y="0"/>
            <a:chExt cx="292837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86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21745" y="3601441"/>
            <a:ext cx="1244104" cy="128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1"/>
              </a:lnSpc>
            </a:pPr>
            <a:r>
              <a:rPr lang="en-US" sz="7806" b="true">
                <a:solidFill>
                  <a:srgbClr val="2E517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21745" y="4796790"/>
            <a:ext cx="14413059" cy="89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3"/>
              </a:lnSpc>
            </a:pPr>
            <a:r>
              <a:rPr lang="en-US" sz="540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2 — Predictive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1745" y="5942552"/>
            <a:ext cx="14413059" cy="3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251">
                <a:solidFill>
                  <a:srgbClr val="9EB6CC"/>
                </a:solidFill>
                <a:latin typeface="Canva Sans"/>
                <a:ea typeface="Canva Sans"/>
                <a:cs typeface="Canva Sans"/>
                <a:sym typeface="Canva Sans"/>
              </a:rPr>
              <a:t>Two independent processes, one shared feature contract and one shared split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2 · METHOD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Evaluation Protocol Both Processes Share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1170" y="2120494"/>
            <a:ext cx="5254704" cy="1963493"/>
            <a:chOff x="0" y="0"/>
            <a:chExt cx="7006272" cy="2617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06209" cy="2617978"/>
            </a:xfrm>
            <a:custGeom>
              <a:avLst/>
              <a:gdLst/>
              <a:ahLst/>
              <a:cxnLst/>
              <a:rect r="r" b="b" t="t" l="l"/>
              <a:pathLst>
                <a:path h="2617978" w="7006209">
                  <a:moveTo>
                    <a:pt x="0" y="0"/>
                  </a:moveTo>
                  <a:lnTo>
                    <a:pt x="7006209" y="0"/>
                  </a:lnTo>
                  <a:lnTo>
                    <a:pt x="7006209" y="2617978"/>
                  </a:lnTo>
                  <a:lnTo>
                    <a:pt x="0" y="2617978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88324" y="2127647"/>
            <a:ext cx="57198" cy="1949196"/>
            <a:chOff x="0" y="0"/>
            <a:chExt cx="76264" cy="2598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2598928"/>
            </a:xfrm>
            <a:custGeom>
              <a:avLst/>
              <a:gdLst/>
              <a:ahLst/>
              <a:cxnLst/>
              <a:rect r="r" b="b" t="t" l="l"/>
              <a:pathLst>
                <a:path h="2598928" w="76200">
                  <a:moveTo>
                    <a:pt x="0" y="0"/>
                  </a:moveTo>
                  <a:lnTo>
                    <a:pt x="76200" y="0"/>
                  </a:lnTo>
                  <a:lnTo>
                    <a:pt x="76200" y="2598928"/>
                  </a:lnTo>
                  <a:lnTo>
                    <a:pt x="0" y="2598928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62863" y="2309174"/>
            <a:ext cx="4691339" cy="155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Stratified 64 / 16 / 20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Each class is split separately, so train, validation and test all carry the same 5.46% default rate. Verified and written out as split_summary.csv.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23568" y="2120494"/>
            <a:ext cx="5254704" cy="1963493"/>
            <a:chOff x="0" y="0"/>
            <a:chExt cx="7006272" cy="26179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06209" cy="2617978"/>
            </a:xfrm>
            <a:custGeom>
              <a:avLst/>
              <a:gdLst/>
              <a:ahLst/>
              <a:cxnLst/>
              <a:rect r="r" b="b" t="t" l="l"/>
              <a:pathLst>
                <a:path h="2617978" w="7006209">
                  <a:moveTo>
                    <a:pt x="0" y="0"/>
                  </a:moveTo>
                  <a:lnTo>
                    <a:pt x="7006209" y="0"/>
                  </a:lnTo>
                  <a:lnTo>
                    <a:pt x="7006209" y="2617978"/>
                  </a:lnTo>
                  <a:lnTo>
                    <a:pt x="0" y="2617978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30721" y="2127647"/>
            <a:ext cx="57198" cy="1949196"/>
            <a:chOff x="0" y="0"/>
            <a:chExt cx="76264" cy="25989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2598928"/>
            </a:xfrm>
            <a:custGeom>
              <a:avLst/>
              <a:gdLst/>
              <a:ahLst/>
              <a:cxnLst/>
              <a:rect r="r" b="b" t="t" l="l"/>
              <a:pathLst>
                <a:path h="2598928" w="76200">
                  <a:moveTo>
                    <a:pt x="0" y="0"/>
                  </a:moveTo>
                  <a:lnTo>
                    <a:pt x="76200" y="0"/>
                  </a:lnTo>
                  <a:lnTo>
                    <a:pt x="76200" y="2598928"/>
                  </a:lnTo>
                  <a:lnTo>
                    <a:pt x="0" y="2598928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805251" y="2309174"/>
            <a:ext cx="4691339" cy="185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Train-only fitting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Median imputation, string indexing, one-hot encoding and standardisation are fitted on the training fold and applied to the other two. Unseen categories encode to an all-zero block.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65965" y="2120494"/>
            <a:ext cx="5254704" cy="1963493"/>
            <a:chOff x="0" y="0"/>
            <a:chExt cx="7006272" cy="2617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06209" cy="2617978"/>
            </a:xfrm>
            <a:custGeom>
              <a:avLst/>
              <a:gdLst/>
              <a:ahLst/>
              <a:cxnLst/>
              <a:rect r="r" b="b" t="t" l="l"/>
              <a:pathLst>
                <a:path h="2617978" w="7006209">
                  <a:moveTo>
                    <a:pt x="0" y="0"/>
                  </a:moveTo>
                  <a:lnTo>
                    <a:pt x="7006209" y="0"/>
                  </a:lnTo>
                  <a:lnTo>
                    <a:pt x="7006209" y="2617978"/>
                  </a:lnTo>
                  <a:lnTo>
                    <a:pt x="0" y="2617978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3109" y="2127647"/>
            <a:ext cx="57198" cy="1949196"/>
            <a:chOff x="0" y="0"/>
            <a:chExt cx="76264" cy="25989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200" cy="2598928"/>
            </a:xfrm>
            <a:custGeom>
              <a:avLst/>
              <a:gdLst/>
              <a:ahLst/>
              <a:cxnLst/>
              <a:rect r="r" b="b" t="t" l="l"/>
              <a:pathLst>
                <a:path h="2598928" w="76200">
                  <a:moveTo>
                    <a:pt x="0" y="0"/>
                  </a:moveTo>
                  <a:lnTo>
                    <a:pt x="76200" y="0"/>
                  </a:lnTo>
                  <a:lnTo>
                    <a:pt x="76200" y="2598928"/>
                  </a:lnTo>
                  <a:lnTo>
                    <a:pt x="0" y="2598928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347648" y="2309174"/>
            <a:ext cx="4691339" cy="124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 weights, not resampling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Every default counts as n_neg / n_pos ≈ 17.3 rows. Nothing is duplicated or discarded, so the test set stays an honest sample of reality.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1170" y="4316768"/>
            <a:ext cx="5254704" cy="1963493"/>
            <a:chOff x="0" y="0"/>
            <a:chExt cx="7006272" cy="26179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06209" cy="2617978"/>
            </a:xfrm>
            <a:custGeom>
              <a:avLst/>
              <a:gdLst/>
              <a:ahLst/>
              <a:cxnLst/>
              <a:rect r="r" b="b" t="t" l="l"/>
              <a:pathLst>
                <a:path h="2617978" w="7006209">
                  <a:moveTo>
                    <a:pt x="0" y="0"/>
                  </a:moveTo>
                  <a:lnTo>
                    <a:pt x="7006209" y="0"/>
                  </a:lnTo>
                  <a:lnTo>
                    <a:pt x="7006209" y="2617978"/>
                  </a:lnTo>
                  <a:lnTo>
                    <a:pt x="0" y="2617978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88324" y="4323921"/>
            <a:ext cx="57198" cy="1949196"/>
            <a:chOff x="0" y="0"/>
            <a:chExt cx="76264" cy="25989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2598928"/>
            </a:xfrm>
            <a:custGeom>
              <a:avLst/>
              <a:gdLst/>
              <a:ahLst/>
              <a:cxnLst/>
              <a:rect r="r" b="b" t="t" l="l"/>
              <a:pathLst>
                <a:path h="2598928" w="76200">
                  <a:moveTo>
                    <a:pt x="0" y="0"/>
                  </a:moveTo>
                  <a:lnTo>
                    <a:pt x="76200" y="0"/>
                  </a:lnTo>
                  <a:lnTo>
                    <a:pt x="76200" y="2598928"/>
                  </a:lnTo>
                  <a:lnTo>
                    <a:pt x="0" y="2598928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62863" y="4505449"/>
            <a:ext cx="4691339" cy="155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Threshold tuned on validation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0.5 is arbitrary under imbalance. We sweep 0.05 → 0.95 and keep the threshold that maximises F1 on the default class — chosen on validation, never on test.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23568" y="4316768"/>
            <a:ext cx="5254704" cy="1963493"/>
            <a:chOff x="0" y="0"/>
            <a:chExt cx="7006272" cy="26179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06209" cy="2617978"/>
            </a:xfrm>
            <a:custGeom>
              <a:avLst/>
              <a:gdLst/>
              <a:ahLst/>
              <a:cxnLst/>
              <a:rect r="r" b="b" t="t" l="l"/>
              <a:pathLst>
                <a:path h="2617978" w="7006209">
                  <a:moveTo>
                    <a:pt x="0" y="0"/>
                  </a:moveTo>
                  <a:lnTo>
                    <a:pt x="7006209" y="0"/>
                  </a:lnTo>
                  <a:lnTo>
                    <a:pt x="7006209" y="2617978"/>
                  </a:lnTo>
                  <a:lnTo>
                    <a:pt x="0" y="2617978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530721" y="4323921"/>
            <a:ext cx="57198" cy="1949196"/>
            <a:chOff x="0" y="0"/>
            <a:chExt cx="76264" cy="259892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200" cy="2598928"/>
            </a:xfrm>
            <a:custGeom>
              <a:avLst/>
              <a:gdLst/>
              <a:ahLst/>
              <a:cxnLst/>
              <a:rect r="r" b="b" t="t" l="l"/>
              <a:pathLst>
                <a:path h="2598928" w="76200">
                  <a:moveTo>
                    <a:pt x="0" y="0"/>
                  </a:moveTo>
                  <a:lnTo>
                    <a:pt x="76200" y="0"/>
                  </a:lnTo>
                  <a:lnTo>
                    <a:pt x="76200" y="2598928"/>
                  </a:lnTo>
                  <a:lnTo>
                    <a:pt x="0" y="2598928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6805251" y="4505449"/>
            <a:ext cx="4691339" cy="124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 used once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Model selection, hyperparameters and the threshold are all settled before the test set is scored a single time.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65965" y="4316768"/>
            <a:ext cx="5254704" cy="1963493"/>
            <a:chOff x="0" y="0"/>
            <a:chExt cx="7006272" cy="2617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06209" cy="2617978"/>
            </a:xfrm>
            <a:custGeom>
              <a:avLst/>
              <a:gdLst/>
              <a:ahLst/>
              <a:cxnLst/>
              <a:rect r="r" b="b" t="t" l="l"/>
              <a:pathLst>
                <a:path h="2617978" w="7006209">
                  <a:moveTo>
                    <a:pt x="0" y="0"/>
                  </a:moveTo>
                  <a:lnTo>
                    <a:pt x="7006209" y="0"/>
                  </a:lnTo>
                  <a:lnTo>
                    <a:pt x="7006209" y="2617978"/>
                  </a:lnTo>
                  <a:lnTo>
                    <a:pt x="0" y="2617978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073109" y="4323921"/>
            <a:ext cx="57198" cy="1949196"/>
            <a:chOff x="0" y="0"/>
            <a:chExt cx="76264" cy="259892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200" cy="2598928"/>
            </a:xfrm>
            <a:custGeom>
              <a:avLst/>
              <a:gdLst/>
              <a:ahLst/>
              <a:cxnLst/>
              <a:rect r="r" b="b" t="t" l="l"/>
              <a:pathLst>
                <a:path h="2598928" w="76200">
                  <a:moveTo>
                    <a:pt x="0" y="0"/>
                  </a:moveTo>
                  <a:lnTo>
                    <a:pt x="76200" y="0"/>
                  </a:lnTo>
                  <a:lnTo>
                    <a:pt x="76200" y="2598928"/>
                  </a:lnTo>
                  <a:lnTo>
                    <a:pt x="0" y="2598928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2347648" y="4505449"/>
            <a:ext cx="4691339" cy="155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PR-AUC ranks the models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With 5.46% positives, ROC-AUC flatters everything and accuracy is dominated by the majority class. PR-AUC is the metric we select on.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88324" y="6657461"/>
            <a:ext cx="7956699" cy="2400357"/>
            <a:chOff x="0" y="0"/>
            <a:chExt cx="10608932" cy="32004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08945" cy="3200527"/>
            </a:xfrm>
            <a:custGeom>
              <a:avLst/>
              <a:gdLst/>
              <a:ahLst/>
              <a:cxnLst/>
              <a:rect r="r" b="b" t="t" l="l"/>
              <a:pathLst>
                <a:path h="3200527" w="10608945">
                  <a:moveTo>
                    <a:pt x="0" y="0"/>
                  </a:moveTo>
                  <a:lnTo>
                    <a:pt x="10608945" y="0"/>
                  </a:lnTo>
                  <a:lnTo>
                    <a:pt x="10608945" y="3200527"/>
                  </a:lnTo>
                  <a:lnTo>
                    <a:pt x="0" y="3200527"/>
                  </a:lnTo>
                  <a:close/>
                </a:path>
              </a:pathLst>
            </a:custGeom>
            <a:solidFill>
              <a:srgbClr val="0E223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88324" y="6657461"/>
            <a:ext cx="57198" cy="2400357"/>
            <a:chOff x="0" y="0"/>
            <a:chExt cx="76264" cy="320047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200" cy="3200527"/>
            </a:xfrm>
            <a:custGeom>
              <a:avLst/>
              <a:gdLst/>
              <a:ahLst/>
              <a:cxnLst/>
              <a:rect r="r" b="b" t="t" l="l"/>
              <a:pathLst>
                <a:path h="3200527" w="76200">
                  <a:moveTo>
                    <a:pt x="0" y="0"/>
                  </a:moveTo>
                  <a:lnTo>
                    <a:pt x="76200" y="0"/>
                  </a:lnTo>
                  <a:lnTo>
                    <a:pt x="76200" y="3200527"/>
                  </a:lnTo>
                  <a:lnTo>
                    <a:pt x="0" y="3200527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317765" y="6806213"/>
            <a:ext cx="7297807" cy="38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501" b="true">
                <a:solidFill>
                  <a:srgbClr val="F0A860"/>
                </a:solidFill>
                <a:latin typeface="Consolas Bold"/>
                <a:ea typeface="Consolas Bold"/>
                <a:cs typeface="Consolas Bold"/>
                <a:sym typeface="Consolas Bold"/>
              </a:rPr>
              <a:t>stage2_spark.py — add_class_weights()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7765" y="7264517"/>
            <a:ext cx="7297807" cy="160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8FA6B8"/>
                </a:solidFill>
                <a:latin typeface="Consolas"/>
                <a:ea typeface="Consolas"/>
                <a:cs typeface="Consolas"/>
                <a:sym typeface="Consolas"/>
              </a:rPr>
              <a:t># every default counts as (n_negative / n_positive) rows</a:t>
            </a:r>
          </a:p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ratio = negatives / positives      # 17.31 on the train fold</a:t>
            </a:r>
          </a:p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df = df.withColumn('weight', F.when(</a:t>
            </a:r>
          </a:p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F.col('default_ind') == 1.0, F.lit(ratio)</a:t>
            </a:r>
          </a:p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).otherwise(F.lit(1.0)))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9356817" y="6657461"/>
            <a:ext cx="7956699" cy="2400357"/>
            <a:chOff x="0" y="0"/>
            <a:chExt cx="10608932" cy="32004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608945" cy="3200527"/>
            </a:xfrm>
            <a:custGeom>
              <a:avLst/>
              <a:gdLst/>
              <a:ahLst/>
              <a:cxnLst/>
              <a:rect r="r" b="b" t="t" l="l"/>
              <a:pathLst>
                <a:path h="3200527" w="10608945">
                  <a:moveTo>
                    <a:pt x="0" y="0"/>
                  </a:moveTo>
                  <a:lnTo>
                    <a:pt x="10608945" y="0"/>
                  </a:lnTo>
                  <a:lnTo>
                    <a:pt x="10608945" y="3200527"/>
                  </a:lnTo>
                  <a:lnTo>
                    <a:pt x="0" y="3200527"/>
                  </a:lnTo>
                  <a:close/>
                </a:path>
              </a:pathLst>
            </a:custGeom>
            <a:solidFill>
              <a:srgbClr val="0E2239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356817" y="6657461"/>
            <a:ext cx="57198" cy="2400357"/>
            <a:chOff x="0" y="0"/>
            <a:chExt cx="76264" cy="320047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200" cy="3200527"/>
            </a:xfrm>
            <a:custGeom>
              <a:avLst/>
              <a:gdLst/>
              <a:ahLst/>
              <a:cxnLst/>
              <a:rect r="r" b="b" t="t" l="l"/>
              <a:pathLst>
                <a:path h="3200527" w="76200">
                  <a:moveTo>
                    <a:pt x="0" y="0"/>
                  </a:moveTo>
                  <a:lnTo>
                    <a:pt x="76200" y="0"/>
                  </a:lnTo>
                  <a:lnTo>
                    <a:pt x="76200" y="3200527"/>
                  </a:lnTo>
                  <a:lnTo>
                    <a:pt x="0" y="3200527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9686258" y="6806213"/>
            <a:ext cx="7297807" cy="38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501" b="true">
                <a:solidFill>
                  <a:srgbClr val="F0A860"/>
                </a:solidFill>
                <a:latin typeface="Consolas Bold"/>
                <a:ea typeface="Consolas Bold"/>
                <a:cs typeface="Consolas Bold"/>
                <a:sym typeface="Consolas Bold"/>
              </a:rPr>
              <a:t>best_threshold() — identical in both processes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686258" y="7264517"/>
            <a:ext cx="7297807" cy="160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8FA6B8"/>
                </a:solidFill>
                <a:latin typeface="Consolas"/>
                <a:ea typeface="Consolas"/>
                <a:cs typeface="Consolas"/>
                <a:sym typeface="Consolas"/>
              </a:rPr>
              <a:t># F1 on the default class, searched on VALIDATION data</a:t>
            </a:r>
          </a:p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for t in np.arange(0.05, 0.951, 0.005):</a:t>
            </a:r>
          </a:p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f1 = metrics_at(y_val, s_val, t)['f1_default']</a:t>
            </a:r>
          </a:p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f1 &gt; best_f1:</a:t>
            </a:r>
          </a:p>
          <a:p>
            <a:pPr algn="l">
              <a:lnSpc>
                <a:spcPts val="1986"/>
              </a:lnSpc>
            </a:pPr>
            <a:r>
              <a:rPr lang="en-US" sz="1576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best, best_f1 = t, f1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2 · IMPLEMENTATION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 One — Spark MLlib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8324" y="1979733"/>
            <a:ext cx="8647833" cy="343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Pipeline.</a:t>
            </a:r>
            <a:r>
              <a:rPr lang="en-US" sz="20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Imputer (median) → StringIndexer → OneHotEncoder → VectorAssembler → classifier, assembled as one pyspark.ml Pipeline and fitted once on the training fold.</a:t>
            </a:r>
          </a:p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matrix.</a:t>
            </a:r>
            <a:r>
              <a:rPr lang="en-US" sz="20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138 assembled columns from 27 numeric and 6 categorical inputs, plus a bureau_data_missing indicator.</a:t>
            </a:r>
          </a:p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Tuning.</a:t>
            </a:r>
            <a:r>
              <a:rPr lang="en-US" sz="20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CrossValidator with 3 folds, selecting on areaUnderPR — not on accuracy.</a:t>
            </a:r>
          </a:p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Engineering issue we hit.</a:t>
            </a:r>
            <a:r>
              <a:rPr lang="en-US" sz="202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handleInvalid='keep' on both the indexer and the encoder: a category present only in validation or test would otherwise abort the run instead of encoding to zeros.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88324" y="6177026"/>
          <a:ext cx="8617332" cy="2467335"/>
        </p:xfrm>
        <a:graphic>
          <a:graphicData uri="http://schemas.openxmlformats.org/drawingml/2006/table">
            <a:tbl>
              <a:tblPr/>
              <a:tblGrid>
                <a:gridCol w="3282793"/>
                <a:gridCol w="5334539"/>
              </a:tblGrid>
              <a:tr h="5395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Selected hyperparameters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</a:tr>
              <a:tr h="82073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Logistic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regParam 0.001, elasticNetParam 0.0 (pure L2)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535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numTrees 100, maxDepth 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5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Gradient-Boosted Trees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maxDepth 4, maxIter 100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10185225" y="2017833"/>
            <a:ext cx="7128291" cy="5545598"/>
            <a:chOff x="0" y="0"/>
            <a:chExt cx="9504388" cy="73941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04426" cy="7394067"/>
            </a:xfrm>
            <a:custGeom>
              <a:avLst/>
              <a:gdLst/>
              <a:ahLst/>
              <a:cxnLst/>
              <a:rect r="r" b="b" t="t" l="l"/>
              <a:pathLst>
                <a:path h="7394067" w="9504426">
                  <a:moveTo>
                    <a:pt x="0" y="0"/>
                  </a:moveTo>
                  <a:lnTo>
                    <a:pt x="9504426" y="0"/>
                  </a:lnTo>
                  <a:lnTo>
                    <a:pt x="9504426" y="7394067"/>
                  </a:lnTo>
                  <a:lnTo>
                    <a:pt x="0" y="7394067"/>
                  </a:lnTo>
                  <a:close/>
                </a:path>
              </a:pathLst>
            </a:custGeom>
            <a:solidFill>
              <a:srgbClr val="0E223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185225" y="2017833"/>
            <a:ext cx="57198" cy="5545598"/>
            <a:chOff x="0" y="0"/>
            <a:chExt cx="76264" cy="73941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200" cy="7394067"/>
            </a:xfrm>
            <a:custGeom>
              <a:avLst/>
              <a:gdLst/>
              <a:ahLst/>
              <a:cxnLst/>
              <a:rect r="r" b="b" t="t" l="l"/>
              <a:pathLst>
                <a:path h="7394067" w="76200">
                  <a:moveTo>
                    <a:pt x="0" y="0"/>
                  </a:moveTo>
                  <a:lnTo>
                    <a:pt x="76200" y="0"/>
                  </a:lnTo>
                  <a:lnTo>
                    <a:pt x="76200" y="7394067"/>
                  </a:lnTo>
                  <a:lnTo>
                    <a:pt x="0" y="7394067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514667" y="2166576"/>
            <a:ext cx="6469409" cy="38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501" b="true">
                <a:solidFill>
                  <a:srgbClr val="F0A860"/>
                </a:solidFill>
                <a:latin typeface="Consolas Bold"/>
                <a:ea typeface="Consolas Bold"/>
                <a:cs typeface="Consolas Bold"/>
                <a:sym typeface="Consolas Bold"/>
              </a:rPr>
              <a:t>stage2_spark.py — preprocessor + tuning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14667" y="2624880"/>
            <a:ext cx="6469409" cy="474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stages  = [Imputer(inputCols=NUMERIC, outputCols=imp,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   strategy='median')]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stages += [StringIndexer(inputCol=c,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outputCol=f'{c}_idx',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handleInvalid='keep')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for c in CATEGORICAL]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stages.append(OneHotEncoder(..., dropLast=True,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handleInvalid='keep'))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stages.append(VectorAssembler(outputCol='features',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inputCols=imp + ['bureau_data_missing'] + ohe))</a:t>
            </a:r>
          </a:p>
          <a:p>
            <a:pPr algn="l">
              <a:lnSpc>
                <a:spcPts val="1891"/>
              </a:lnSpc>
            </a:pP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gbt = GBTClassifier(labelCol='default_ind',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    weightCol='weight', seed=SEED)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cv  = CrossValidator(estimator=gbt, numFolds=3,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evaluator=BinaryClassificationEvaluator(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metricName='areaUnderPR'))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185225" y="7714421"/>
            <a:ext cx="7128291" cy="1619755"/>
            <a:chOff x="0" y="0"/>
            <a:chExt cx="9504388" cy="21596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4426" cy="2159635"/>
            </a:xfrm>
            <a:custGeom>
              <a:avLst/>
              <a:gdLst/>
              <a:ahLst/>
              <a:cxnLst/>
              <a:rect r="r" b="b" t="t" l="l"/>
              <a:pathLst>
                <a:path h="2159635" w="9504426">
                  <a:moveTo>
                    <a:pt x="0" y="0"/>
                  </a:moveTo>
                  <a:lnTo>
                    <a:pt x="9504426" y="0"/>
                  </a:lnTo>
                  <a:lnTo>
                    <a:pt x="9504426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185225" y="7714421"/>
            <a:ext cx="57198" cy="1619755"/>
            <a:chOff x="0" y="0"/>
            <a:chExt cx="76264" cy="215967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" cy="2159635"/>
            </a:xfrm>
            <a:custGeom>
              <a:avLst/>
              <a:gdLst/>
              <a:ahLst/>
              <a:cxnLst/>
              <a:rect r="r" b="b" t="t" l="l"/>
              <a:pathLst>
                <a:path h="2159635" w="76200">
                  <a:moveTo>
                    <a:pt x="0" y="0"/>
                  </a:moveTo>
                  <a:lnTo>
                    <a:pt x="76200" y="0"/>
                  </a:lnTo>
                  <a:lnTo>
                    <a:pt x="76200" y="2159635"/>
                  </a:lnTo>
                  <a:lnTo>
                    <a:pt x="0" y="2159635"/>
                  </a:lnTo>
                  <a:close/>
                </a:path>
              </a:pathLst>
            </a:custGeom>
            <a:solidFill>
              <a:srgbClr val="2E6DA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487216" y="7892863"/>
            <a:ext cx="6551762" cy="1657219"/>
            <a:chOff x="0" y="0"/>
            <a:chExt cx="8735682" cy="22096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735687" cy="2209619"/>
            </a:xfrm>
            <a:custGeom>
              <a:avLst/>
              <a:gdLst/>
              <a:ahLst/>
              <a:cxnLst/>
              <a:rect r="r" b="b" t="t" l="l"/>
              <a:pathLst>
                <a:path h="2209619" w="8735687">
                  <a:moveTo>
                    <a:pt x="0" y="0"/>
                  </a:moveTo>
                  <a:lnTo>
                    <a:pt x="8735687" y="0"/>
                  </a:lnTo>
                  <a:lnTo>
                    <a:pt x="8735687" y="2209619"/>
                  </a:lnTo>
                  <a:lnTo>
                    <a:pt x="0" y="22096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931" r="0" b="-1513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8735682" cy="2228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 b="true">
                  <a:solidFill>
                    <a:srgbClr val="2E6DA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MODEL CHOICE</a:t>
              </a:r>
            </a:p>
            <a:p>
              <a:pPr algn="l">
                <a:lnSpc>
                  <a:spcPts val="2747"/>
                </a:lnSpc>
              </a:pPr>
              <a:r>
                <a:rPr lang="en-US" sz="1876">
                  <a:solidFill>
                    <a:srgbClr val="1C2B3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Why these three: a regularised linear baseline, a bagged non-linear model and a boosted one — increasing capacity on identical inputs, so any gain belongs to the model family.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2 ·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 One — Results on the Held-Out Test Set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88324" y="2086462"/>
          <a:ext cx="16281420" cy="2300287"/>
        </p:xfrm>
        <a:graphic>
          <a:graphicData uri="http://schemas.openxmlformats.org/drawingml/2006/table">
            <a:tbl>
              <a:tblPr/>
              <a:tblGrid>
                <a:gridCol w="3713307"/>
                <a:gridCol w="1713834"/>
                <a:gridCol w="1713834"/>
                <a:gridCol w="1713834"/>
                <a:gridCol w="2142292"/>
                <a:gridCol w="1713834"/>
                <a:gridCol w="1856653"/>
                <a:gridCol w="1713834"/>
              </a:tblGrid>
              <a:tr h="5535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ROC-AUC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PR-AUC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Threshold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Recall (default)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F1 (default)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</a:tr>
              <a:tr h="582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Logistic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0.7861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0.1590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0.635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50.3%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16.5%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0.2490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83.4%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82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0.7629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0.1581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0.615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27.5%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19.0%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0.2245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89.6%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Gradient-Boosted Trees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0.7988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0.1716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0.680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45.0%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18.2%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0.2593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85.9%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158935" y="4323921"/>
            <a:ext cx="5424002" cy="4049382"/>
            <a:chOff x="0" y="0"/>
            <a:chExt cx="7232002" cy="5399176"/>
          </a:xfrm>
        </p:grpSpPr>
        <p:sp>
          <p:nvSpPr>
            <p:cNvPr name="Freeform 12" id="12" descr="roc_curves.png"/>
            <p:cNvSpPr/>
            <p:nvPr/>
          </p:nvSpPr>
          <p:spPr>
            <a:xfrm flipH="false" flipV="false" rot="0">
              <a:off x="0" y="0"/>
              <a:ext cx="7232015" cy="5399151"/>
            </a:xfrm>
            <a:custGeom>
              <a:avLst/>
              <a:gdLst/>
              <a:ahLst/>
              <a:cxnLst/>
              <a:rect r="r" b="b" t="t" l="l"/>
              <a:pathLst>
                <a:path h="5399151" w="7232015">
                  <a:moveTo>
                    <a:pt x="0" y="0"/>
                  </a:moveTo>
                  <a:lnTo>
                    <a:pt x="7232015" y="0"/>
                  </a:lnTo>
                  <a:lnTo>
                    <a:pt x="7232015" y="5399151"/>
                  </a:lnTo>
                  <a:lnTo>
                    <a:pt x="0" y="5399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88324" y="8422881"/>
            <a:ext cx="5765225" cy="23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501" i="true">
                <a:solidFill>
                  <a:srgbClr val="64748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ROC curves — test set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198700" y="4323921"/>
            <a:ext cx="5424002" cy="4049382"/>
            <a:chOff x="0" y="0"/>
            <a:chExt cx="7232002" cy="5399176"/>
          </a:xfrm>
        </p:grpSpPr>
        <p:sp>
          <p:nvSpPr>
            <p:cNvPr name="Freeform 15" id="15" descr="pr_curves.png"/>
            <p:cNvSpPr/>
            <p:nvPr/>
          </p:nvSpPr>
          <p:spPr>
            <a:xfrm flipH="false" flipV="false" rot="0">
              <a:off x="0" y="0"/>
              <a:ext cx="7232015" cy="5399151"/>
            </a:xfrm>
            <a:custGeom>
              <a:avLst/>
              <a:gdLst/>
              <a:ahLst/>
              <a:cxnLst/>
              <a:rect r="r" b="b" t="t" l="l"/>
              <a:pathLst>
                <a:path h="5399151" w="7232015">
                  <a:moveTo>
                    <a:pt x="0" y="0"/>
                  </a:moveTo>
                  <a:lnTo>
                    <a:pt x="7232015" y="0"/>
                  </a:lnTo>
                  <a:lnTo>
                    <a:pt x="7232015" y="5399151"/>
                  </a:lnTo>
                  <a:lnTo>
                    <a:pt x="0" y="5399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028078" y="8422881"/>
            <a:ext cx="5765225" cy="23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501" i="true">
                <a:solidFill>
                  <a:srgbClr val="64748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Precision–recall curves — test set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73745" y="4295346"/>
            <a:ext cx="4039772" cy="3332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8"/>
              </a:lnSpc>
            </a:pPr>
            <a:r>
              <a:rPr lang="en-US" sz="157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READ IT LIKE THIS</a:t>
            </a:r>
          </a:p>
          <a:p>
            <a:pPr algn="l">
              <a:lnSpc>
                <a:spcPts val="2702"/>
              </a:lnSpc>
            </a:pPr>
            <a:r>
              <a:rPr lang="en-US" sz="180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GBT wins on PR-AUC: 0.1716, or 3.14× the 5.47% random baseline.</a:t>
            </a:r>
          </a:p>
          <a:p>
            <a:pPr algn="l">
              <a:lnSpc>
                <a:spcPts val="2702"/>
              </a:lnSpc>
            </a:pPr>
            <a:r>
              <a:rPr lang="en-US" sz="180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At its tuned threshold it finds 45.0% of defaults (1,257 of 2,793) while flagging 5,647 good loans.</a:t>
            </a:r>
          </a:p>
          <a:p>
            <a:pPr algn="l">
              <a:lnSpc>
                <a:spcPts val="2702"/>
              </a:lnSpc>
            </a:pPr>
            <a:r>
              <a:rPr lang="en-US" sz="180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Random Forest has the best accuracy and the worst recall — the clearest evidence that accuracy is the wrong yardstick here.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2 ·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Drives the Best Spark Model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8324" y="2298163"/>
            <a:ext cx="6863363" cy="5479094"/>
            <a:chOff x="0" y="0"/>
            <a:chExt cx="9151150" cy="7305459"/>
          </a:xfrm>
        </p:grpSpPr>
        <p:sp>
          <p:nvSpPr>
            <p:cNvPr name="Freeform 11" id="11" descr="feature_importance_gbt.png"/>
            <p:cNvSpPr/>
            <p:nvPr/>
          </p:nvSpPr>
          <p:spPr>
            <a:xfrm flipH="false" flipV="false" rot="0">
              <a:off x="0" y="0"/>
              <a:ext cx="9151112" cy="7305421"/>
            </a:xfrm>
            <a:custGeom>
              <a:avLst/>
              <a:gdLst/>
              <a:ahLst/>
              <a:cxnLst/>
              <a:rect r="r" b="b" t="t" l="l"/>
              <a:pathLst>
                <a:path h="7305421" w="9151112">
                  <a:moveTo>
                    <a:pt x="0" y="0"/>
                  </a:moveTo>
                  <a:lnTo>
                    <a:pt x="9151112" y="0"/>
                  </a:lnTo>
                  <a:lnTo>
                    <a:pt x="9151112" y="7305421"/>
                  </a:lnTo>
                  <a:lnTo>
                    <a:pt x="0" y="7305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88324" y="8038538"/>
            <a:ext cx="6863363" cy="23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501" i="true">
                <a:solidFill>
                  <a:srgbClr val="64748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Gradient-Boosted Trees — top feature importances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126225" y="3371593"/>
            <a:ext cx="4118019" cy="3332226"/>
            <a:chOff x="0" y="0"/>
            <a:chExt cx="5490693" cy="4442968"/>
          </a:xfrm>
        </p:grpSpPr>
        <p:sp>
          <p:nvSpPr>
            <p:cNvPr name="Freeform 14" id="14" descr="confusion_matrix_gbt.png"/>
            <p:cNvSpPr/>
            <p:nvPr/>
          </p:nvSpPr>
          <p:spPr>
            <a:xfrm flipH="false" flipV="false" rot="0">
              <a:off x="0" y="0"/>
              <a:ext cx="5490718" cy="4442968"/>
            </a:xfrm>
            <a:custGeom>
              <a:avLst/>
              <a:gdLst/>
              <a:ahLst/>
              <a:cxnLst/>
              <a:rect r="r" b="b" t="t" l="l"/>
              <a:pathLst>
                <a:path h="4442968" w="5490718">
                  <a:moveTo>
                    <a:pt x="0" y="0"/>
                  </a:moveTo>
                  <a:lnTo>
                    <a:pt x="5490718" y="0"/>
                  </a:lnTo>
                  <a:lnTo>
                    <a:pt x="5490718" y="4442968"/>
                  </a:lnTo>
                  <a:lnTo>
                    <a:pt x="0" y="4442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126225" y="8038538"/>
            <a:ext cx="4118019" cy="23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501" i="true">
                <a:solidFill>
                  <a:srgbClr val="64748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GBT confusion matrix at threshold 0.680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18774" y="2067411"/>
            <a:ext cx="4794742" cy="3034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80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int_rate, 20.7%</a:t>
            </a:r>
            <a:r>
              <a:rPr lang="en-US" sz="180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One attribute carries a fifth of the total importance.</a:t>
            </a:r>
          </a:p>
          <a:p>
            <a:pPr algn="l">
              <a:lnSpc>
                <a:spcPts val="2421"/>
              </a:lnSpc>
            </a:pPr>
            <a:r>
              <a:rPr lang="en-US" sz="180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grade_ord, 7.8%</a:t>
            </a:r>
            <a:r>
              <a:rPr lang="en-US" sz="180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The ordinal grade encoding earns its place.</a:t>
            </a:r>
          </a:p>
          <a:p>
            <a:pPr algn="l">
              <a:lnSpc>
                <a:spcPts val="2421"/>
              </a:lnSpc>
            </a:pPr>
            <a:r>
              <a:rPr lang="en-US" sz="180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bureau_data_missing, 7.6%</a:t>
            </a:r>
            <a:r>
              <a:rPr lang="en-US" sz="180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The missingness flag is the third most important feature.</a:t>
            </a:r>
          </a:p>
          <a:p>
            <a:pPr algn="l">
              <a:lnSpc>
                <a:spcPts val="2421"/>
              </a:lnSpc>
            </a:pPr>
            <a:r>
              <a:rPr lang="en-US" sz="180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Then the ratios.</a:t>
            </a:r>
            <a:r>
              <a:rPr lang="en-US" sz="180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annual_inc, inq_last_6mths, dti, installment_to_income and the int_rate × term interaction.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518774" y="6520196"/>
            <a:ext cx="4794742" cy="2196274"/>
            <a:chOff x="0" y="0"/>
            <a:chExt cx="6392990" cy="29283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93053" cy="2928366"/>
            </a:xfrm>
            <a:custGeom>
              <a:avLst/>
              <a:gdLst/>
              <a:ahLst/>
              <a:cxnLst/>
              <a:rect r="r" b="b" t="t" l="l"/>
              <a:pathLst>
                <a:path h="2928366" w="6393053">
                  <a:moveTo>
                    <a:pt x="0" y="0"/>
                  </a:moveTo>
                  <a:lnTo>
                    <a:pt x="6393053" y="0"/>
                  </a:lnTo>
                  <a:lnTo>
                    <a:pt x="6393053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518774" y="6520196"/>
            <a:ext cx="57198" cy="2196274"/>
            <a:chOff x="0" y="0"/>
            <a:chExt cx="76264" cy="29283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200" cy="2928366"/>
            </a:xfrm>
            <a:custGeom>
              <a:avLst/>
              <a:gdLst/>
              <a:ahLst/>
              <a:cxnLst/>
              <a:rect r="r" b="b" t="t" l="l"/>
              <a:pathLst>
                <a:path h="2928366" w="76200">
                  <a:moveTo>
                    <a:pt x="0" y="0"/>
                  </a:moveTo>
                  <a:lnTo>
                    <a:pt x="76200" y="0"/>
                  </a:lnTo>
                  <a:lnTo>
                    <a:pt x="76200" y="2928366"/>
                  </a:lnTo>
                  <a:lnTo>
                    <a:pt x="0" y="2928366"/>
                  </a:lnTo>
                  <a:close/>
                </a:path>
              </a:pathLst>
            </a:custGeom>
            <a:solidFill>
              <a:srgbClr val="2E7D5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820764" y="6698637"/>
            <a:ext cx="4218222" cy="1951905"/>
            <a:chOff x="0" y="0"/>
            <a:chExt cx="5624297" cy="26025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24296" cy="2602538"/>
            </a:xfrm>
            <a:custGeom>
              <a:avLst/>
              <a:gdLst/>
              <a:ahLst/>
              <a:cxnLst/>
              <a:rect r="r" b="b" t="t" l="l"/>
              <a:pathLst>
                <a:path h="2602538" w="5624296">
                  <a:moveTo>
                    <a:pt x="0" y="0"/>
                  </a:moveTo>
                  <a:lnTo>
                    <a:pt x="5624296" y="0"/>
                  </a:lnTo>
                  <a:lnTo>
                    <a:pt x="5624296" y="2602538"/>
                  </a:lnTo>
                  <a:lnTo>
                    <a:pt x="0" y="2602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947" t="0" r="-5947" b="576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624297" cy="26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 b="true">
                  <a:solidFill>
                    <a:srgbClr val="2E7D5B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NEW INSIGHT</a:t>
              </a:r>
            </a:p>
            <a:p>
              <a:pPr algn="l">
                <a:lnSpc>
                  <a:spcPts val="2637"/>
                </a:lnSpc>
              </a:pPr>
              <a:r>
                <a:rPr lang="en-US" sz="1801">
                  <a:solidFill>
                    <a:srgbClr val="1C2B3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Whether a borrower has bureau data at all predicts default almost as strongly as their assigned grade. Missingness is not a nuisance to be imputed away — it is signal.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2 · IMPLEMENTATION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 Two — TensorFlow / Keras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1170" y="2010680"/>
            <a:ext cx="3079937" cy="2691013"/>
            <a:chOff x="0" y="0"/>
            <a:chExt cx="4106583" cy="35880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06545" cy="3588004"/>
            </a:xfrm>
            <a:custGeom>
              <a:avLst/>
              <a:gdLst/>
              <a:ahLst/>
              <a:cxnLst/>
              <a:rect r="r" b="b" t="t" l="l"/>
              <a:pathLst>
                <a:path h="3588004" w="4106545">
                  <a:moveTo>
                    <a:pt x="0" y="0"/>
                  </a:moveTo>
                  <a:lnTo>
                    <a:pt x="4106545" y="0"/>
                  </a:lnTo>
                  <a:lnTo>
                    <a:pt x="4106545" y="3588004"/>
                  </a:lnTo>
                  <a:lnTo>
                    <a:pt x="0" y="3588004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88324" y="2017833"/>
            <a:ext cx="3065631" cy="57198"/>
            <a:chOff x="0" y="0"/>
            <a:chExt cx="4087508" cy="76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87495" cy="76200"/>
            </a:xfrm>
            <a:custGeom>
              <a:avLst/>
              <a:gdLst/>
              <a:ahLst/>
              <a:cxnLst/>
              <a:rect r="r" b="b" t="t" l="l"/>
              <a:pathLst>
                <a:path h="76200" w="4087495">
                  <a:moveTo>
                    <a:pt x="0" y="0"/>
                  </a:moveTo>
                  <a:lnTo>
                    <a:pt x="4087495" y="0"/>
                  </a:lnTo>
                  <a:lnTo>
                    <a:pt x="408749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E6DA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35402" y="2250062"/>
            <a:ext cx="2571474" cy="203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LogisticNN</a:t>
            </a:r>
          </a:p>
          <a:p>
            <a:pPr algn="l">
              <a:lnSpc>
                <a:spcPts val="2118"/>
              </a:lnSpc>
            </a:pPr>
            <a:r>
              <a:rPr lang="en-US" sz="1576" b="true">
                <a:solidFill>
                  <a:srgbClr val="2E6DA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137 parameters</a:t>
            </a:r>
          </a:p>
          <a:p>
            <a:pPr algn="l">
              <a:lnSpc>
                <a:spcPts val="2307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A single sigmoid unit — a neural re-implementation of logistic regression, included as the capacity floor.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321340" y="2010680"/>
            <a:ext cx="3079937" cy="2691013"/>
            <a:chOff x="0" y="0"/>
            <a:chExt cx="4106583" cy="35880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06545" cy="3588004"/>
            </a:xfrm>
            <a:custGeom>
              <a:avLst/>
              <a:gdLst/>
              <a:ahLst/>
              <a:cxnLst/>
              <a:rect r="r" b="b" t="t" l="l"/>
              <a:pathLst>
                <a:path h="3588004" w="4106545">
                  <a:moveTo>
                    <a:pt x="0" y="0"/>
                  </a:moveTo>
                  <a:lnTo>
                    <a:pt x="4106545" y="0"/>
                  </a:lnTo>
                  <a:lnTo>
                    <a:pt x="4106545" y="3588004"/>
                  </a:lnTo>
                  <a:lnTo>
                    <a:pt x="0" y="3588004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328493" y="2017833"/>
            <a:ext cx="3065631" cy="57198"/>
            <a:chOff x="0" y="0"/>
            <a:chExt cx="4087508" cy="76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87495" cy="76200"/>
            </a:xfrm>
            <a:custGeom>
              <a:avLst/>
              <a:gdLst/>
              <a:ahLst/>
              <a:cxnLst/>
              <a:rect r="r" b="b" t="t" l="l"/>
              <a:pathLst>
                <a:path h="76200" w="4087495">
                  <a:moveTo>
                    <a:pt x="0" y="0"/>
                  </a:moveTo>
                  <a:lnTo>
                    <a:pt x="4087495" y="0"/>
                  </a:lnTo>
                  <a:lnTo>
                    <a:pt x="408749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575572" y="2250062"/>
            <a:ext cx="2571474" cy="1745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MLP</a:t>
            </a:r>
          </a:p>
          <a:p>
            <a:pPr algn="l">
              <a:lnSpc>
                <a:spcPts val="2118"/>
              </a:lnSpc>
            </a:pPr>
            <a:r>
              <a:rPr lang="en-US" sz="157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10,881 parameters</a:t>
            </a:r>
          </a:p>
          <a:p>
            <a:pPr algn="l">
              <a:lnSpc>
                <a:spcPts val="2307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Dense 64 → dropout 0.3 → dense 32 → dropout 0.2 → sigmoid. Two hidden layers, ReLU.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661510" y="2010680"/>
            <a:ext cx="3079937" cy="2691013"/>
            <a:chOff x="0" y="0"/>
            <a:chExt cx="4106583" cy="35880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06545" cy="3588004"/>
            </a:xfrm>
            <a:custGeom>
              <a:avLst/>
              <a:gdLst/>
              <a:ahLst/>
              <a:cxnLst/>
              <a:rect r="r" b="b" t="t" l="l"/>
              <a:pathLst>
                <a:path h="3588004" w="4106545">
                  <a:moveTo>
                    <a:pt x="0" y="0"/>
                  </a:moveTo>
                  <a:lnTo>
                    <a:pt x="4106545" y="0"/>
                  </a:lnTo>
                  <a:lnTo>
                    <a:pt x="4106545" y="3588004"/>
                  </a:lnTo>
                  <a:lnTo>
                    <a:pt x="0" y="3588004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668663" y="2017833"/>
            <a:ext cx="3065631" cy="57198"/>
            <a:chOff x="0" y="0"/>
            <a:chExt cx="4087508" cy="762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87495" cy="76200"/>
            </a:xfrm>
            <a:custGeom>
              <a:avLst/>
              <a:gdLst/>
              <a:ahLst/>
              <a:cxnLst/>
              <a:rect r="r" b="b" t="t" l="l"/>
              <a:pathLst>
                <a:path h="76200" w="4087495">
                  <a:moveTo>
                    <a:pt x="0" y="0"/>
                  </a:moveTo>
                  <a:lnTo>
                    <a:pt x="4087495" y="0"/>
                  </a:lnTo>
                  <a:lnTo>
                    <a:pt x="408749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E7D5B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7915742" y="2250062"/>
            <a:ext cx="2571474" cy="203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4"/>
              </a:lnSpc>
            </a:pPr>
            <a:r>
              <a:rPr lang="en-US" sz="210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DeepMLP</a:t>
            </a:r>
          </a:p>
          <a:p>
            <a:pPr algn="l">
              <a:lnSpc>
                <a:spcPts val="2118"/>
              </a:lnSpc>
            </a:pPr>
            <a:r>
              <a:rPr lang="en-US" sz="1576" b="true">
                <a:solidFill>
                  <a:srgbClr val="2E7D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28,673 parameters</a:t>
            </a:r>
          </a:p>
          <a:p>
            <a:pPr algn="l">
              <a:lnSpc>
                <a:spcPts val="2307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128 → BN → 0.4 → 64 → BN → 0.3 → 32 → 0.2 → sigmoid. Batch normalisation keeps the deeper stack trainable.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8324" y="4972155"/>
            <a:ext cx="9745970" cy="259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195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Same contract as Process One.</a:t>
            </a:r>
            <a:r>
              <a:rPr lang="en-US" sz="19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The same clean file, the same 64 / 16 / 20 stratified fractions and the same threshold routine — 136 design-matrix columns after encoding.</a:t>
            </a:r>
          </a:p>
          <a:p>
            <a:pPr algn="l">
              <a:lnSpc>
                <a:spcPts val="2622"/>
              </a:lnSpc>
            </a:pPr>
            <a:r>
              <a:rPr lang="en-US" sz="195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Imbalance handled twice over.</a:t>
            </a:r>
            <a:r>
              <a:rPr lang="en-US" sz="19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Class weight 17.31 on defaults, and the output bias initialised to −2.8515 = log(p/(1−p)) so the network starts at the true base rate instead of spending its first epochs discovering that defaults are rare.</a:t>
            </a:r>
          </a:p>
          <a:p>
            <a:pPr algn="l">
              <a:lnSpc>
                <a:spcPts val="2622"/>
              </a:lnSpc>
            </a:pPr>
            <a:r>
              <a:rPr lang="en-US" sz="1951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Early stopping on validation PR-AUC.</a:t>
            </a:r>
            <a:r>
              <a:rPr lang="en-US" sz="19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Patience 8, best weights restored — not on loss, and not on accuracy.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1283363" y="2017833"/>
            <a:ext cx="6030154" cy="5253904"/>
            <a:chOff x="0" y="0"/>
            <a:chExt cx="8040205" cy="70052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040243" cy="7005193"/>
            </a:xfrm>
            <a:custGeom>
              <a:avLst/>
              <a:gdLst/>
              <a:ahLst/>
              <a:cxnLst/>
              <a:rect r="r" b="b" t="t" l="l"/>
              <a:pathLst>
                <a:path h="7005193" w="8040243">
                  <a:moveTo>
                    <a:pt x="0" y="0"/>
                  </a:moveTo>
                  <a:lnTo>
                    <a:pt x="8040243" y="0"/>
                  </a:lnTo>
                  <a:lnTo>
                    <a:pt x="8040243" y="7005193"/>
                  </a:lnTo>
                  <a:lnTo>
                    <a:pt x="0" y="7005193"/>
                  </a:lnTo>
                  <a:close/>
                </a:path>
              </a:pathLst>
            </a:custGeom>
            <a:solidFill>
              <a:srgbClr val="0E223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283363" y="2017833"/>
            <a:ext cx="57198" cy="5253904"/>
            <a:chOff x="0" y="0"/>
            <a:chExt cx="76264" cy="70052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200" cy="7005193"/>
            </a:xfrm>
            <a:custGeom>
              <a:avLst/>
              <a:gdLst/>
              <a:ahLst/>
              <a:cxnLst/>
              <a:rect r="r" b="b" t="t" l="l"/>
              <a:pathLst>
                <a:path h="7005193" w="76200">
                  <a:moveTo>
                    <a:pt x="0" y="0"/>
                  </a:moveTo>
                  <a:lnTo>
                    <a:pt x="76200" y="0"/>
                  </a:lnTo>
                  <a:lnTo>
                    <a:pt x="76200" y="7005193"/>
                  </a:lnTo>
                  <a:lnTo>
                    <a:pt x="0" y="7005193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612804" y="2166576"/>
            <a:ext cx="5371271" cy="386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7"/>
              </a:lnSpc>
            </a:pPr>
            <a:r>
              <a:rPr lang="en-US" sz="1501" b="true">
                <a:solidFill>
                  <a:srgbClr val="F0A860"/>
                </a:solidFill>
                <a:latin typeface="Consolas Bold"/>
                <a:ea typeface="Consolas Bold"/>
                <a:cs typeface="Consolas Bold"/>
                <a:sym typeface="Consolas Bold"/>
              </a:rPr>
              <a:t>stage2_tensorflow.py — DeepMLP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12804" y="2624880"/>
            <a:ext cx="5371271" cy="445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build_deep_mlp(n_features, bias):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return keras.Sequential([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layers.Input(shape=(n_features,)),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layers.Dense(128, activation='relu'),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layers.BatchNormalization(),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layers.Dropout(0.4),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layers.Dense(64, activation='relu'),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layers.BatchNormalization(),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layers.Dropout(0.3),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layers.Dense(32, activation='relu'),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layers.Dropout(0.2),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8FA6B8"/>
                </a:solidFill>
                <a:latin typeface="Consolas"/>
                <a:ea typeface="Consolas"/>
                <a:cs typeface="Consolas"/>
                <a:sym typeface="Consolas"/>
              </a:rPr>
              <a:t>    # start at the true base rate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layers.Dense(1, activation='sigmoid',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bias_initializer=Constant(bias)),</a:t>
            </a:r>
          </a:p>
          <a:p>
            <a:pPr algn="l">
              <a:lnSpc>
                <a:spcPts val="1891"/>
              </a:lnSpc>
            </a:pPr>
            <a:r>
              <a:rPr lang="en-US" sz="1501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])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283363" y="7481068"/>
            <a:ext cx="6030154" cy="1304039"/>
            <a:chOff x="0" y="0"/>
            <a:chExt cx="8040205" cy="17387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40243" cy="1738757"/>
            </a:xfrm>
            <a:custGeom>
              <a:avLst/>
              <a:gdLst/>
              <a:ahLst/>
              <a:cxnLst/>
              <a:rect r="r" b="b" t="t" l="l"/>
              <a:pathLst>
                <a:path h="1738757" w="8040243">
                  <a:moveTo>
                    <a:pt x="0" y="0"/>
                  </a:moveTo>
                  <a:lnTo>
                    <a:pt x="8040243" y="0"/>
                  </a:lnTo>
                  <a:lnTo>
                    <a:pt x="8040243" y="1738757"/>
                  </a:lnTo>
                  <a:lnTo>
                    <a:pt x="0" y="1738757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1283363" y="7481068"/>
            <a:ext cx="57198" cy="1304039"/>
            <a:chOff x="0" y="0"/>
            <a:chExt cx="76264" cy="17387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200" cy="1738757"/>
            </a:xfrm>
            <a:custGeom>
              <a:avLst/>
              <a:gdLst/>
              <a:ahLst/>
              <a:cxnLst/>
              <a:rect r="r" b="b" t="t" l="l"/>
              <a:pathLst>
                <a:path h="1738757" w="76200">
                  <a:moveTo>
                    <a:pt x="0" y="0"/>
                  </a:moveTo>
                  <a:lnTo>
                    <a:pt x="76200" y="0"/>
                  </a:lnTo>
                  <a:lnTo>
                    <a:pt x="76200" y="1738757"/>
                  </a:lnTo>
                  <a:lnTo>
                    <a:pt x="0" y="1738757"/>
                  </a:lnTo>
                  <a:close/>
                </a:path>
              </a:pathLst>
            </a:custGeom>
            <a:solidFill>
              <a:srgbClr val="2E6DA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585353" y="7659510"/>
            <a:ext cx="5453624" cy="1028424"/>
            <a:chOff x="0" y="0"/>
            <a:chExt cx="7271499" cy="13712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71503" cy="1371228"/>
            </a:xfrm>
            <a:custGeom>
              <a:avLst/>
              <a:gdLst/>
              <a:ahLst/>
              <a:cxnLst/>
              <a:rect r="r" b="b" t="t" l="l"/>
              <a:pathLst>
                <a:path h="1371228" w="7271503">
                  <a:moveTo>
                    <a:pt x="0" y="0"/>
                  </a:moveTo>
                  <a:lnTo>
                    <a:pt x="7271503" y="0"/>
                  </a:lnTo>
                  <a:lnTo>
                    <a:pt x="7271503" y="1371228"/>
                  </a:lnTo>
                  <a:lnTo>
                    <a:pt x="0" y="13712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278" r="0" b="-4937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271499" cy="1409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7"/>
                </a:lnSpc>
              </a:pPr>
              <a:r>
                <a:rPr lang="en-US" sz="1801">
                  <a:solidFill>
                    <a:srgbClr val="1C2B3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Three capacities on identical inputs isolate one question: how much non-linear signal is actually in these features?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2 ·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 Two — Results on the Held-Out Test Set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88324" y="2086462"/>
          <a:ext cx="16224225" cy="2300287"/>
        </p:xfrm>
        <a:graphic>
          <a:graphicData uri="http://schemas.openxmlformats.org/drawingml/2006/table">
            <a:tbl>
              <a:tblPr/>
              <a:tblGrid>
                <a:gridCol w="3476621"/>
                <a:gridCol w="1287636"/>
                <a:gridCol w="1287636"/>
                <a:gridCol w="1545164"/>
                <a:gridCol w="1545164"/>
                <a:gridCol w="1673928"/>
                <a:gridCol w="2060220"/>
                <a:gridCol w="1545164"/>
                <a:gridCol w="1802691"/>
              </a:tblGrid>
              <a:tr h="55359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Params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Epochs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ROC-AUC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PR-AUC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Threshold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Recall (default)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F1 (default)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</a:tr>
              <a:tr h="582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LogisticNN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137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0.7881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0.1618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0.620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55.0%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16.2%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0.2502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82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MLP (64/32)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10,881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0.8025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0.1775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0.710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46.6%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17.8%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0.2579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2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DeepMLP (128/64/32)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28,673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41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0.8021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0.1830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0.750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43.6%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19.0%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41"/>
                        </a:lnSpc>
                        <a:defRPr/>
                      </a:pPr>
                      <a:r>
                        <a:rPr lang="en-US" sz="195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0.2649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988324" y="4498162"/>
            <a:ext cx="10157774" cy="3700891"/>
            <a:chOff x="0" y="0"/>
            <a:chExt cx="13543699" cy="4934522"/>
          </a:xfrm>
        </p:grpSpPr>
        <p:sp>
          <p:nvSpPr>
            <p:cNvPr name="Freeform 12" id="12" descr="training_history.png"/>
            <p:cNvSpPr/>
            <p:nvPr/>
          </p:nvSpPr>
          <p:spPr>
            <a:xfrm flipH="false" flipV="false" rot="0">
              <a:off x="0" y="0"/>
              <a:ext cx="13543662" cy="4934585"/>
            </a:xfrm>
            <a:custGeom>
              <a:avLst/>
              <a:gdLst/>
              <a:ahLst/>
              <a:cxnLst/>
              <a:rect r="r" b="b" t="t" l="l"/>
              <a:pathLst>
                <a:path h="4934585" w="13543662">
                  <a:moveTo>
                    <a:pt x="0" y="0"/>
                  </a:moveTo>
                  <a:lnTo>
                    <a:pt x="13543662" y="0"/>
                  </a:lnTo>
                  <a:lnTo>
                    <a:pt x="13543662" y="4934585"/>
                  </a:lnTo>
                  <a:lnTo>
                    <a:pt x="0" y="4934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88324" y="8354254"/>
            <a:ext cx="10157774" cy="23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501" i="true">
                <a:solidFill>
                  <a:srgbClr val="64748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Training history — loss and validation PR-AUC, early stopping on PR-AUC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57902" y="4363974"/>
            <a:ext cx="5755615" cy="3451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Depth is worth +0.0212 PR-AUC.</a:t>
            </a:r>
            <a:r>
              <a:rPr lang="en-US" sz="18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DeepMLP 0.1830 against LogisticNN 0.1618 — that gap is a direct measurement of the non-linear signal in the features.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But it is not free.</a:t>
            </a:r>
            <a:r>
              <a:rPr lang="en-US" sz="18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DeepMLP buys precision with recall: 19.0% precision at 43.6% recall, where the single-unit LogisticNN reaches 55.0% recall at 16.2% precision.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Early stopping did its job.</a:t>
            </a:r>
            <a:r>
              <a:rPr lang="en-US" sz="18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  Best epochs 34, 57 and 33 out of a 60-epoch budget; the deeper models start over-fitting well before the cap.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2 · COMPARISON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 to Head — Spark MLlib vs TensorFlow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83215" y="2086461"/>
            <a:ext cx="9218933" cy="4872990"/>
            <a:chOff x="0" y="0"/>
            <a:chExt cx="12291911" cy="6497320"/>
          </a:xfrm>
        </p:grpSpPr>
        <p:sp>
          <p:nvSpPr>
            <p:cNvPr name="Freeform 11" id="11" descr="process_comparison.png"/>
            <p:cNvSpPr/>
            <p:nvPr/>
          </p:nvSpPr>
          <p:spPr>
            <a:xfrm flipH="false" flipV="false" rot="0">
              <a:off x="0" y="0"/>
              <a:ext cx="12291949" cy="6497320"/>
            </a:xfrm>
            <a:custGeom>
              <a:avLst/>
              <a:gdLst/>
              <a:ahLst/>
              <a:cxnLst/>
              <a:rect r="r" b="b" t="t" l="l"/>
              <a:pathLst>
                <a:path h="6497320" w="12291949">
                  <a:moveTo>
                    <a:pt x="0" y="0"/>
                  </a:moveTo>
                  <a:lnTo>
                    <a:pt x="12291949" y="0"/>
                  </a:lnTo>
                  <a:lnTo>
                    <a:pt x="12291949" y="6497320"/>
                  </a:lnTo>
                  <a:lnTo>
                    <a:pt x="0" y="6497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88324" y="7009028"/>
            <a:ext cx="9608706" cy="239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7"/>
              </a:lnSpc>
            </a:pPr>
            <a:r>
              <a:rPr lang="en-US" sz="1501" i="true">
                <a:solidFill>
                  <a:srgbClr val="647484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PR-AUC of all six models on the same test split — random baseline 0.0546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8324" y="7686961"/>
            <a:ext cx="9608706" cy="1509941"/>
            <a:chOff x="0" y="0"/>
            <a:chExt cx="12811608" cy="201325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11633" cy="2013204"/>
            </a:xfrm>
            <a:custGeom>
              <a:avLst/>
              <a:gdLst/>
              <a:ahLst/>
              <a:cxnLst/>
              <a:rect r="r" b="b" t="t" l="l"/>
              <a:pathLst>
                <a:path h="2013204" w="12811633">
                  <a:moveTo>
                    <a:pt x="0" y="0"/>
                  </a:moveTo>
                  <a:lnTo>
                    <a:pt x="12811633" y="0"/>
                  </a:lnTo>
                  <a:lnTo>
                    <a:pt x="12811633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88324" y="7686961"/>
            <a:ext cx="57198" cy="1509941"/>
            <a:chOff x="0" y="0"/>
            <a:chExt cx="76264" cy="20132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200" cy="2013204"/>
            </a:xfrm>
            <a:custGeom>
              <a:avLst/>
              <a:gdLst/>
              <a:ahLst/>
              <a:cxnLst/>
              <a:rect r="r" b="b" t="t" l="l"/>
              <a:pathLst>
                <a:path h="2013204" w="76200">
                  <a:moveTo>
                    <a:pt x="0" y="0"/>
                  </a:moveTo>
                  <a:lnTo>
                    <a:pt x="76200" y="0"/>
                  </a:lnTo>
                  <a:lnTo>
                    <a:pt x="76200" y="2013204"/>
                  </a:lnTo>
                  <a:lnTo>
                    <a:pt x="0" y="2013204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90314" y="7865412"/>
            <a:ext cx="9032186" cy="1314319"/>
            <a:chOff x="0" y="0"/>
            <a:chExt cx="12042915" cy="17524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42912" cy="1752419"/>
            </a:xfrm>
            <a:custGeom>
              <a:avLst/>
              <a:gdLst/>
              <a:ahLst/>
              <a:cxnLst/>
              <a:rect r="r" b="b" t="t" l="l"/>
              <a:pathLst>
                <a:path h="1752419" w="12042912">
                  <a:moveTo>
                    <a:pt x="0" y="0"/>
                  </a:moveTo>
                  <a:lnTo>
                    <a:pt x="12042912" y="0"/>
                  </a:lnTo>
                  <a:lnTo>
                    <a:pt x="12042912" y="1752419"/>
                  </a:lnTo>
                  <a:lnTo>
                    <a:pt x="0" y="17524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39" r="0" b="-7776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2042915" cy="1771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 b="true">
                  <a:solidFill>
                    <a:srgbClr val="E07A28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SPREAD IS NARROW</a:t>
              </a:r>
            </a:p>
            <a:p>
              <a:pPr algn="l">
                <a:lnSpc>
                  <a:spcPts val="2747"/>
                </a:lnSpc>
              </a:pPr>
              <a:r>
                <a:rPr lang="en-US" sz="1876">
                  <a:solidFill>
                    <a:srgbClr val="1C2B3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All six models sit between 0.158 and 0.183. The signal ceiling comes from the features, not from the library — and both stacks agree on what matters: int_rate, grade and the missingness flag.</a:t>
              </a:r>
            </a:p>
          </p:txBody>
        </p:sp>
      </p:grp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11077466" y="2086462"/>
          <a:ext cx="6215156" cy="3854299"/>
        </p:xfrm>
        <a:graphic>
          <a:graphicData uri="http://schemas.openxmlformats.org/drawingml/2006/table">
            <a:tbl>
              <a:tblPr/>
              <a:tblGrid>
                <a:gridCol w="916989"/>
                <a:gridCol w="2343420"/>
                <a:gridCol w="1732093"/>
                <a:gridCol w="1222653"/>
              </a:tblGrid>
              <a:tr h="5354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Rank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Process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PR-AUC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A46"/>
                    </a:solidFill>
                  </a:tcPr>
                </a:tc>
              </a:tr>
              <a:tr h="5531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DeepMLP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TensorFlow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112A46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0.1830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E6"/>
                    </a:solidFill>
                  </a:tcPr>
                </a:tc>
              </a:tr>
              <a:tr h="5531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MLP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TensorFlow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0.1775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1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GBT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Spark MLlib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0.1716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531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LogisticNN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TensorFlow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0.1618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1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LogisticRegression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Spark MLlib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0.1590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5313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RandomForest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Spark MLlib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1C2B3A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0.1581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1" id="21"/>
          <p:cNvGrpSpPr/>
          <p:nvPr/>
        </p:nvGrpSpPr>
        <p:grpSpPr>
          <a:xfrm rot="0">
            <a:off x="11077470" y="6177029"/>
            <a:ext cx="6236046" cy="3019882"/>
            <a:chOff x="0" y="0"/>
            <a:chExt cx="8314728" cy="40265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14690" cy="4026535"/>
            </a:xfrm>
            <a:custGeom>
              <a:avLst/>
              <a:gdLst/>
              <a:ahLst/>
              <a:cxnLst/>
              <a:rect r="r" b="b" t="t" l="l"/>
              <a:pathLst>
                <a:path h="4026535" w="8314690">
                  <a:moveTo>
                    <a:pt x="0" y="0"/>
                  </a:moveTo>
                  <a:lnTo>
                    <a:pt x="8314690" y="0"/>
                  </a:lnTo>
                  <a:lnTo>
                    <a:pt x="8314690" y="4026535"/>
                  </a:lnTo>
                  <a:lnTo>
                    <a:pt x="0" y="4026535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077470" y="6177029"/>
            <a:ext cx="57198" cy="3019882"/>
            <a:chOff x="0" y="0"/>
            <a:chExt cx="76264" cy="40265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4026535"/>
            </a:xfrm>
            <a:custGeom>
              <a:avLst/>
              <a:gdLst/>
              <a:ahLst/>
              <a:cxnLst/>
              <a:rect r="r" b="b" t="t" l="l"/>
              <a:pathLst>
                <a:path h="4026535" w="76200">
                  <a:moveTo>
                    <a:pt x="0" y="0"/>
                  </a:moveTo>
                  <a:lnTo>
                    <a:pt x="76200" y="0"/>
                  </a:lnTo>
                  <a:lnTo>
                    <a:pt x="76200" y="4026535"/>
                  </a:lnTo>
                  <a:lnTo>
                    <a:pt x="0" y="4026535"/>
                  </a:lnTo>
                  <a:close/>
                </a:path>
              </a:pathLst>
            </a:custGeom>
            <a:solidFill>
              <a:srgbClr val="2E6DA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379451" y="6355471"/>
            <a:ext cx="5659526" cy="2685919"/>
            <a:chOff x="0" y="0"/>
            <a:chExt cx="7546035" cy="35812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46037" cy="3581231"/>
            </a:xfrm>
            <a:custGeom>
              <a:avLst/>
              <a:gdLst/>
              <a:ahLst/>
              <a:cxnLst/>
              <a:rect r="r" b="b" t="t" l="l"/>
              <a:pathLst>
                <a:path h="3581231" w="7546037">
                  <a:moveTo>
                    <a:pt x="0" y="0"/>
                  </a:moveTo>
                  <a:lnTo>
                    <a:pt x="7546037" y="0"/>
                  </a:lnTo>
                  <a:lnTo>
                    <a:pt x="7546037" y="3581231"/>
                  </a:lnTo>
                  <a:lnTo>
                    <a:pt x="0" y="3581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0" t="0" r="-10370" b="85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7546035" cy="3600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7"/>
                </a:lnSpc>
              </a:pPr>
              <a:r>
                <a:rPr lang="en-US" sz="1501" b="true">
                  <a:solidFill>
                    <a:srgbClr val="2E6DA4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WHAT THIS REALLY TELLS US</a:t>
              </a:r>
            </a:p>
            <a:p>
              <a:pPr algn="l">
                <a:lnSpc>
                  <a:spcPts val="2747"/>
                </a:lnSpc>
              </a:pPr>
              <a:r>
                <a:rPr lang="en-US" sz="1876">
                  <a:solidFill>
                    <a:srgbClr val="1C2B3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The honest conclusion is not “neural networks win”. Every model lands in the same narrow band, so the choice should be made on operational cost, interpretability and calibration — not on 0.01 of PR-AUC. DeepMLP does beat the best Spark model by +0.0113 PR-AUC, a real but modest 6.6% relative gain.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19627" cy="10295039"/>
            <a:chOff x="0" y="0"/>
            <a:chExt cx="292837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862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92862">
                  <a:moveTo>
                    <a:pt x="0" y="0"/>
                  </a:moveTo>
                  <a:lnTo>
                    <a:pt x="292862" y="0"/>
                  </a:lnTo>
                  <a:lnTo>
                    <a:pt x="292862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921745" y="3601441"/>
            <a:ext cx="1277541" cy="1285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1"/>
              </a:lnSpc>
            </a:pPr>
            <a:r>
              <a:rPr lang="en-US" sz="7806" b="true">
                <a:solidFill>
                  <a:srgbClr val="2E517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21745" y="4796790"/>
            <a:ext cx="14413059" cy="891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3"/>
              </a:lnSpc>
            </a:pPr>
            <a:r>
              <a:rPr lang="en-US" sz="540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Critical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21745" y="5942552"/>
            <a:ext cx="14413059" cy="36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251">
                <a:solidFill>
                  <a:srgbClr val="9EB6CC"/>
                </a:solidFill>
                <a:latin typeface="Canva Sans"/>
                <a:ea typeface="Canva Sans"/>
                <a:cs typeface="Canva Sans"/>
                <a:sym typeface="Canva Sans"/>
              </a:rPr>
              <a:t>Strengths, weaknesses and what we would do differently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CRITICAL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Strengths and Weaknesses of Our Approach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17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1170" y="1914592"/>
            <a:ext cx="7936678" cy="6740395"/>
            <a:chOff x="0" y="0"/>
            <a:chExt cx="10582237" cy="89871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82275" cy="8987155"/>
            </a:xfrm>
            <a:custGeom>
              <a:avLst/>
              <a:gdLst/>
              <a:ahLst/>
              <a:cxnLst/>
              <a:rect r="r" b="b" t="t" l="l"/>
              <a:pathLst>
                <a:path h="8987155" w="10582275">
                  <a:moveTo>
                    <a:pt x="0" y="0"/>
                  </a:moveTo>
                  <a:lnTo>
                    <a:pt x="10582275" y="0"/>
                  </a:lnTo>
                  <a:lnTo>
                    <a:pt x="10582275" y="8987155"/>
                  </a:lnTo>
                  <a:lnTo>
                    <a:pt x="0" y="898715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88324" y="1921745"/>
            <a:ext cx="7922381" cy="57198"/>
            <a:chOff x="0" y="0"/>
            <a:chExt cx="10563174" cy="76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63225" cy="76200"/>
            </a:xfrm>
            <a:custGeom>
              <a:avLst/>
              <a:gdLst/>
              <a:ahLst/>
              <a:cxnLst/>
              <a:rect r="r" b="b" t="t" l="l"/>
              <a:pathLst>
                <a:path h="76200" w="10563225">
                  <a:moveTo>
                    <a:pt x="0" y="0"/>
                  </a:moveTo>
                  <a:lnTo>
                    <a:pt x="10563225" y="0"/>
                  </a:lnTo>
                  <a:lnTo>
                    <a:pt x="1056322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E7D5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45216" y="2108597"/>
            <a:ext cx="7208587" cy="434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801" b="true">
                <a:solidFill>
                  <a:srgbClr val="2E7D5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STRENGTHS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Leakage is controlled explicitly</a:t>
            </a:r>
          </a:p>
          <a:p>
            <a:pPr algn="l">
              <a:lnSpc>
                <a:spcPts val="2231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13 post-funding columns are named and excluded, not merely overlooked.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feature contract, two stacks</a:t>
            </a:r>
          </a:p>
          <a:p>
            <a:pPr algn="l">
              <a:lnSpc>
                <a:spcPts val="2231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Both processes read the same clean file and the same split, so the comparison measures models, not preprocessing.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Imbalance handled end to end</a:t>
            </a:r>
          </a:p>
          <a:p>
            <a:pPr algn="l">
              <a:lnSpc>
                <a:spcPts val="2231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Class weights, PR-AUC selection, a tuned threshold and an initialised output bias — four consistent decisions.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 set touched once</a:t>
            </a:r>
          </a:p>
          <a:p>
            <a:pPr algn="l">
              <a:lnSpc>
                <a:spcPts val="2231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Everything is chosen on validation; the reported numbers are not the best of many test peeks.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Reproducible</a:t>
            </a:r>
          </a:p>
          <a:p>
            <a:pPr algn="l">
              <a:lnSpc>
                <a:spcPts val="2231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Fixed seeds, timestamped runs, runs.log and a pinned final/ directory behind every figure here.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83992" y="1914592"/>
            <a:ext cx="7936678" cy="6740395"/>
            <a:chOff x="0" y="0"/>
            <a:chExt cx="10582237" cy="89871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82275" cy="8987155"/>
            </a:xfrm>
            <a:custGeom>
              <a:avLst/>
              <a:gdLst/>
              <a:ahLst/>
              <a:cxnLst/>
              <a:rect r="r" b="b" t="t" l="l"/>
              <a:pathLst>
                <a:path h="8987155" w="10582275">
                  <a:moveTo>
                    <a:pt x="0" y="0"/>
                  </a:moveTo>
                  <a:lnTo>
                    <a:pt x="10582275" y="0"/>
                  </a:lnTo>
                  <a:lnTo>
                    <a:pt x="10582275" y="8987155"/>
                  </a:lnTo>
                  <a:lnTo>
                    <a:pt x="0" y="8987155"/>
                  </a:ln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8DFE6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91136" y="1921745"/>
            <a:ext cx="7922381" cy="57198"/>
            <a:chOff x="0" y="0"/>
            <a:chExt cx="10563174" cy="762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63225" cy="76200"/>
            </a:xfrm>
            <a:custGeom>
              <a:avLst/>
              <a:gdLst/>
              <a:ahLst/>
              <a:cxnLst/>
              <a:rect r="r" b="b" t="t" l="l"/>
              <a:pathLst>
                <a:path h="76200" w="10563225">
                  <a:moveTo>
                    <a:pt x="0" y="0"/>
                  </a:moveTo>
                  <a:lnTo>
                    <a:pt x="10563225" y="0"/>
                  </a:lnTo>
                  <a:lnTo>
                    <a:pt x="1056322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48028" y="2108597"/>
            <a:ext cx="7208587" cy="410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801" b="true">
                <a:solidFill>
                  <a:srgbClr val="C0392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WEAKNESSES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PR-AUC ≈ 0.18 is low in absolute terms</a:t>
            </a:r>
          </a:p>
          <a:p>
            <a:pPr algn="l">
              <a:lnSpc>
                <a:spcPts val="2231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Good for ranking and pricing, not for an automatic decline.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Random split, not temporal</a:t>
            </a:r>
          </a:p>
          <a:p>
            <a:pPr algn="l">
              <a:lnSpc>
                <a:spcPts val="2231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Loans span vintages; a deployed model predicts forward in time.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Stage 2 ran on a 30% stratified sample</a:t>
            </a:r>
          </a:p>
          <a:p>
            <a:pPr algn="l">
              <a:lnSpc>
                <a:spcPts val="2231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256,861 rows; the full-data run is still outstanding.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threshold optimises F1, not money</a:t>
            </a:r>
          </a:p>
          <a:p>
            <a:pPr algn="l">
              <a:lnSpc>
                <a:spcPts val="2231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F1 weights a missed default and a rejected good borrower equally.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Partly circular features</a:t>
            </a:r>
          </a:p>
          <a:p>
            <a:pPr algn="l">
              <a:lnSpc>
                <a:spcPts val="2231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int_rate and grade are Lending Club's own risk assessment.</a:t>
            </a:r>
          </a:p>
          <a:p>
            <a:pPr algn="l">
              <a:lnSpc>
                <a:spcPts val="2521"/>
              </a:lnSpc>
            </a:pPr>
            <a:r>
              <a:rPr lang="en-US" sz="187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Probabilities are uncalibrated</a:t>
            </a:r>
          </a:p>
          <a:p>
            <a:pPr algn="l">
              <a:lnSpc>
                <a:spcPts val="2231"/>
              </a:lnSpc>
            </a:pPr>
            <a:r>
              <a:rPr lang="en-US" sz="1576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Tuned thresholds land at 0.62–0.75: the scores rank well but are not probabilities.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8324" y="8757647"/>
            <a:ext cx="16325193" cy="713794"/>
            <a:chOff x="0" y="0"/>
            <a:chExt cx="21766924" cy="9517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66912" cy="951738"/>
            </a:xfrm>
            <a:custGeom>
              <a:avLst/>
              <a:gdLst/>
              <a:ahLst/>
              <a:cxnLst/>
              <a:rect r="r" b="b" t="t" l="l"/>
              <a:pathLst>
                <a:path h="951738" w="21766912">
                  <a:moveTo>
                    <a:pt x="0" y="0"/>
                  </a:moveTo>
                  <a:lnTo>
                    <a:pt x="21766912" y="0"/>
                  </a:lnTo>
                  <a:lnTo>
                    <a:pt x="21766912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8324" y="8757647"/>
            <a:ext cx="57198" cy="713794"/>
            <a:chOff x="0" y="0"/>
            <a:chExt cx="76264" cy="9517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200" cy="951738"/>
            </a:xfrm>
            <a:custGeom>
              <a:avLst/>
              <a:gdLst/>
              <a:ahLst/>
              <a:cxnLst/>
              <a:rect r="r" b="b" t="t" l="l"/>
              <a:pathLst>
                <a:path h="951738" w="76200">
                  <a:moveTo>
                    <a:pt x="0" y="0"/>
                  </a:moveTo>
                  <a:lnTo>
                    <a:pt x="76200" y="0"/>
                  </a:lnTo>
                  <a:lnTo>
                    <a:pt x="76200" y="951738"/>
                  </a:lnTo>
                  <a:lnTo>
                    <a:pt x="0" y="951738"/>
                  </a:lnTo>
                  <a:close/>
                </a:path>
              </a:pathLst>
            </a:custGeom>
            <a:solidFill>
              <a:srgbClr val="2E6DA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90314" y="8936098"/>
            <a:ext cx="15748673" cy="361674"/>
            <a:chOff x="0" y="0"/>
            <a:chExt cx="20998231" cy="4822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998227" cy="482235"/>
            </a:xfrm>
            <a:custGeom>
              <a:avLst/>
              <a:gdLst/>
              <a:ahLst/>
              <a:cxnLst/>
              <a:rect r="r" b="b" t="t" l="l"/>
              <a:pathLst>
                <a:path h="482235" w="20998227">
                  <a:moveTo>
                    <a:pt x="0" y="0"/>
                  </a:moveTo>
                  <a:lnTo>
                    <a:pt x="20998227" y="0"/>
                  </a:lnTo>
                  <a:lnTo>
                    <a:pt x="20998227" y="482235"/>
                  </a:lnTo>
                  <a:lnTo>
                    <a:pt x="0" y="48223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108" r="0" b="-79778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998231" cy="520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7"/>
                </a:lnSpc>
              </a:pPr>
              <a:r>
                <a:rPr lang="en-US" sz="1801">
                  <a:solidFill>
                    <a:srgbClr val="1C2B3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Lessons learned — choose the metric before the model, treat missingness as a feature, and fix split, weighting and threshold up front.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DISCUSSION · NEW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We Learned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8324" y="2196274"/>
            <a:ext cx="5240407" cy="2361000"/>
            <a:chOff x="0" y="0"/>
            <a:chExt cx="6987210" cy="314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87159" cy="3147949"/>
            </a:xfrm>
            <a:custGeom>
              <a:avLst/>
              <a:gdLst/>
              <a:ahLst/>
              <a:cxnLst/>
              <a:rect r="r" b="b" t="t" l="l"/>
              <a:pathLst>
                <a:path h="3147949" w="6987159">
                  <a:moveTo>
                    <a:pt x="0" y="0"/>
                  </a:moveTo>
                  <a:lnTo>
                    <a:pt x="6987159" y="0"/>
                  </a:lnTo>
                  <a:lnTo>
                    <a:pt x="6987159" y="3147949"/>
                  </a:lnTo>
                  <a:lnTo>
                    <a:pt x="0" y="3147949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88324" y="2196274"/>
            <a:ext cx="57198" cy="2361000"/>
            <a:chOff x="0" y="0"/>
            <a:chExt cx="76264" cy="314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3147949"/>
            </a:xfrm>
            <a:custGeom>
              <a:avLst/>
              <a:gdLst/>
              <a:ahLst/>
              <a:cxnLst/>
              <a:rect r="r" b="b" t="t" l="l"/>
              <a:pathLst>
                <a:path h="3147949" w="76200">
                  <a:moveTo>
                    <a:pt x="0" y="0"/>
                  </a:moveTo>
                  <a:lnTo>
                    <a:pt x="76200" y="0"/>
                  </a:lnTo>
                  <a:lnTo>
                    <a:pt x="76200" y="3147949"/>
                  </a:lnTo>
                  <a:lnTo>
                    <a:pt x="0" y="3147949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62863" y="2405253"/>
            <a:ext cx="4691339" cy="1902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Missingness is a feature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bureau_data_missing is the 3rd most important input to the best Spark model, at 7.6%. A thin or absent credit file predicts default almost as strongly as the assigned grade does.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30721" y="2196274"/>
            <a:ext cx="5240407" cy="2361000"/>
            <a:chOff x="0" y="0"/>
            <a:chExt cx="6987210" cy="314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87159" cy="3147949"/>
            </a:xfrm>
            <a:custGeom>
              <a:avLst/>
              <a:gdLst/>
              <a:ahLst/>
              <a:cxnLst/>
              <a:rect r="r" b="b" t="t" l="l"/>
              <a:pathLst>
                <a:path h="3147949" w="6987159">
                  <a:moveTo>
                    <a:pt x="0" y="0"/>
                  </a:moveTo>
                  <a:lnTo>
                    <a:pt x="6987159" y="0"/>
                  </a:lnTo>
                  <a:lnTo>
                    <a:pt x="6987159" y="3147949"/>
                  </a:lnTo>
                  <a:lnTo>
                    <a:pt x="0" y="3147949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530721" y="2196274"/>
            <a:ext cx="57198" cy="2361000"/>
            <a:chOff x="0" y="0"/>
            <a:chExt cx="76264" cy="314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200" cy="3147949"/>
            </a:xfrm>
            <a:custGeom>
              <a:avLst/>
              <a:gdLst/>
              <a:ahLst/>
              <a:cxnLst/>
              <a:rect r="r" b="b" t="t" l="l"/>
              <a:pathLst>
                <a:path h="3147949" w="76200">
                  <a:moveTo>
                    <a:pt x="0" y="0"/>
                  </a:moveTo>
                  <a:lnTo>
                    <a:pt x="76200" y="0"/>
                  </a:lnTo>
                  <a:lnTo>
                    <a:pt x="76200" y="3147949"/>
                  </a:lnTo>
                  <a:lnTo>
                    <a:pt x="0" y="3147949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805251" y="2405253"/>
            <a:ext cx="4691339" cy="158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Accuracy is actively misleading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Random Forest posts the highest accuracy (89.6%) and the worst recall (27.5%). A constant “no default” rule beats every model on accuracy at 94.53%.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73109" y="2196274"/>
            <a:ext cx="5240407" cy="2361000"/>
            <a:chOff x="0" y="0"/>
            <a:chExt cx="6987210" cy="314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87159" cy="3147949"/>
            </a:xfrm>
            <a:custGeom>
              <a:avLst/>
              <a:gdLst/>
              <a:ahLst/>
              <a:cxnLst/>
              <a:rect r="r" b="b" t="t" l="l"/>
              <a:pathLst>
                <a:path h="3147949" w="6987159">
                  <a:moveTo>
                    <a:pt x="0" y="0"/>
                  </a:moveTo>
                  <a:lnTo>
                    <a:pt x="6987159" y="0"/>
                  </a:lnTo>
                  <a:lnTo>
                    <a:pt x="6987159" y="3147949"/>
                  </a:lnTo>
                  <a:lnTo>
                    <a:pt x="0" y="3147949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073109" y="2196274"/>
            <a:ext cx="57198" cy="2361000"/>
            <a:chOff x="0" y="0"/>
            <a:chExt cx="76264" cy="3148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200" cy="3147949"/>
            </a:xfrm>
            <a:custGeom>
              <a:avLst/>
              <a:gdLst/>
              <a:ahLst/>
              <a:cxnLst/>
              <a:rect r="r" b="b" t="t" l="l"/>
              <a:pathLst>
                <a:path h="3147949" w="76200">
                  <a:moveTo>
                    <a:pt x="0" y="0"/>
                  </a:moveTo>
                  <a:lnTo>
                    <a:pt x="76200" y="0"/>
                  </a:lnTo>
                  <a:lnTo>
                    <a:pt x="76200" y="3147949"/>
                  </a:lnTo>
                  <a:lnTo>
                    <a:pt x="0" y="3147949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347648" y="2405253"/>
            <a:ext cx="4691339" cy="158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Ratios beat raw magnitudes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annual_inc alone reaches r = −0.037; installment_to_income reaches +0.062. Engineering the affordability ratio extracted signal no new data could.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8324" y="4872990"/>
            <a:ext cx="5240407" cy="2361000"/>
            <a:chOff x="0" y="0"/>
            <a:chExt cx="6987210" cy="3148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87159" cy="3147949"/>
            </a:xfrm>
            <a:custGeom>
              <a:avLst/>
              <a:gdLst/>
              <a:ahLst/>
              <a:cxnLst/>
              <a:rect r="r" b="b" t="t" l="l"/>
              <a:pathLst>
                <a:path h="3147949" w="6987159">
                  <a:moveTo>
                    <a:pt x="0" y="0"/>
                  </a:moveTo>
                  <a:lnTo>
                    <a:pt x="6987159" y="0"/>
                  </a:lnTo>
                  <a:lnTo>
                    <a:pt x="6987159" y="3147949"/>
                  </a:lnTo>
                  <a:lnTo>
                    <a:pt x="0" y="3147949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88324" y="4872990"/>
            <a:ext cx="57198" cy="2361000"/>
            <a:chOff x="0" y="0"/>
            <a:chExt cx="76264" cy="3148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6200" cy="3147949"/>
            </a:xfrm>
            <a:custGeom>
              <a:avLst/>
              <a:gdLst/>
              <a:ahLst/>
              <a:cxnLst/>
              <a:rect r="r" b="b" t="t" l="l"/>
              <a:pathLst>
                <a:path h="3147949" w="76200">
                  <a:moveTo>
                    <a:pt x="0" y="0"/>
                  </a:moveTo>
                  <a:lnTo>
                    <a:pt x="76200" y="0"/>
                  </a:lnTo>
                  <a:lnTo>
                    <a:pt x="76200" y="3147949"/>
                  </a:lnTo>
                  <a:lnTo>
                    <a:pt x="0" y="3147949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62863" y="5081968"/>
            <a:ext cx="4691339" cy="127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Capacity buys little here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137 parameters → 28,673 parameters gains +0.021 PR-AUC. The features, not the architecture, are the binding constraint.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30721" y="4872990"/>
            <a:ext cx="5240407" cy="2361000"/>
            <a:chOff x="0" y="0"/>
            <a:chExt cx="6987210" cy="3148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87159" cy="3147949"/>
            </a:xfrm>
            <a:custGeom>
              <a:avLst/>
              <a:gdLst/>
              <a:ahLst/>
              <a:cxnLst/>
              <a:rect r="r" b="b" t="t" l="l"/>
              <a:pathLst>
                <a:path h="3147949" w="6987159">
                  <a:moveTo>
                    <a:pt x="0" y="0"/>
                  </a:moveTo>
                  <a:lnTo>
                    <a:pt x="6987159" y="0"/>
                  </a:lnTo>
                  <a:lnTo>
                    <a:pt x="6987159" y="3147949"/>
                  </a:lnTo>
                  <a:lnTo>
                    <a:pt x="0" y="3147949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530721" y="4872990"/>
            <a:ext cx="57198" cy="2361000"/>
            <a:chOff x="0" y="0"/>
            <a:chExt cx="76264" cy="3148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6200" cy="3147949"/>
            </a:xfrm>
            <a:custGeom>
              <a:avLst/>
              <a:gdLst/>
              <a:ahLst/>
              <a:cxnLst/>
              <a:rect r="r" b="b" t="t" l="l"/>
              <a:pathLst>
                <a:path h="3147949" w="76200">
                  <a:moveTo>
                    <a:pt x="0" y="0"/>
                  </a:moveTo>
                  <a:lnTo>
                    <a:pt x="76200" y="0"/>
                  </a:lnTo>
                  <a:lnTo>
                    <a:pt x="76200" y="3147949"/>
                  </a:lnTo>
                  <a:lnTo>
                    <a:pt x="0" y="3147949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6805251" y="5081968"/>
            <a:ext cx="4691339" cy="158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two stacks converge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Six models across two independent libraries land within 0.025 PR-AUC of each other — strong evidence we are near the ceiling of this feature set.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073109" y="4872990"/>
            <a:ext cx="5240407" cy="2361000"/>
            <a:chOff x="0" y="0"/>
            <a:chExt cx="6987210" cy="3148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87159" cy="3147949"/>
            </a:xfrm>
            <a:custGeom>
              <a:avLst/>
              <a:gdLst/>
              <a:ahLst/>
              <a:cxnLst/>
              <a:rect r="r" b="b" t="t" l="l"/>
              <a:pathLst>
                <a:path h="3147949" w="6987159">
                  <a:moveTo>
                    <a:pt x="0" y="0"/>
                  </a:moveTo>
                  <a:lnTo>
                    <a:pt x="6987159" y="0"/>
                  </a:lnTo>
                  <a:lnTo>
                    <a:pt x="6987159" y="3147949"/>
                  </a:lnTo>
                  <a:lnTo>
                    <a:pt x="0" y="3147949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073109" y="4872990"/>
            <a:ext cx="57198" cy="2361000"/>
            <a:chOff x="0" y="0"/>
            <a:chExt cx="76264" cy="3148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6200" cy="3147949"/>
            </a:xfrm>
            <a:custGeom>
              <a:avLst/>
              <a:gdLst/>
              <a:ahLst/>
              <a:cxnLst/>
              <a:rect r="r" b="b" t="t" l="l"/>
              <a:pathLst>
                <a:path h="3147949" w="76200">
                  <a:moveTo>
                    <a:pt x="0" y="0"/>
                  </a:moveTo>
                  <a:lnTo>
                    <a:pt x="76200" y="0"/>
                  </a:lnTo>
                  <a:lnTo>
                    <a:pt x="76200" y="3147949"/>
                  </a:lnTo>
                  <a:lnTo>
                    <a:pt x="0" y="3147949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2347648" y="5081968"/>
            <a:ext cx="4691339" cy="158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Risk is priced, then mispriced</a:t>
            </a:r>
          </a:p>
          <a:p>
            <a:pPr algn="l">
              <a:lnSpc>
                <a:spcPts val="2476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Grade separates 1.83% from 16.70% default, so the lender's own model is informative — but it still leaves 45% of defaults recoverable by a better one.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88324" y="7686961"/>
            <a:ext cx="16325193" cy="1441304"/>
            <a:chOff x="0" y="0"/>
            <a:chExt cx="21766924" cy="192173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766912" cy="1921764"/>
            </a:xfrm>
            <a:custGeom>
              <a:avLst/>
              <a:gdLst/>
              <a:ahLst/>
              <a:cxnLst/>
              <a:rect r="r" b="b" t="t" l="l"/>
              <a:pathLst>
                <a:path h="1921764" w="21766912">
                  <a:moveTo>
                    <a:pt x="0" y="0"/>
                  </a:moveTo>
                  <a:lnTo>
                    <a:pt x="21766912" y="0"/>
                  </a:lnTo>
                  <a:lnTo>
                    <a:pt x="21766912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F3F6F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88324" y="7686961"/>
            <a:ext cx="57198" cy="1441304"/>
            <a:chOff x="0" y="0"/>
            <a:chExt cx="76264" cy="192173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6200" cy="1921764"/>
            </a:xfrm>
            <a:custGeom>
              <a:avLst/>
              <a:gdLst/>
              <a:ahLst/>
              <a:cxnLst/>
              <a:rect r="r" b="b" t="t" l="l"/>
              <a:pathLst>
                <a:path h="1921764" w="76200">
                  <a:moveTo>
                    <a:pt x="0" y="0"/>
                  </a:moveTo>
                  <a:lnTo>
                    <a:pt x="76200" y="0"/>
                  </a:lnTo>
                  <a:lnTo>
                    <a:pt x="76200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90314" y="7865412"/>
            <a:ext cx="15748673" cy="1146261"/>
            <a:chOff x="0" y="0"/>
            <a:chExt cx="20998231" cy="15283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998227" cy="1528348"/>
            </a:xfrm>
            <a:custGeom>
              <a:avLst/>
              <a:gdLst/>
              <a:ahLst/>
              <a:cxnLst/>
              <a:rect r="r" b="b" t="t" l="l"/>
              <a:pathLst>
                <a:path h="1528348" w="20998227">
                  <a:moveTo>
                    <a:pt x="0" y="0"/>
                  </a:moveTo>
                  <a:lnTo>
                    <a:pt x="20998227" y="0"/>
                  </a:lnTo>
                  <a:lnTo>
                    <a:pt x="20998227" y="1528348"/>
                  </a:lnTo>
                  <a:lnTo>
                    <a:pt x="0" y="1528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0406" r="0" b="-21501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20998231" cy="15854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6"/>
                </a:lnSpc>
              </a:pPr>
              <a:r>
                <a:rPr lang="en-US" sz="2026">
                  <a:solidFill>
                    <a:srgbClr val="1C2B3A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Bottom line — on origination-only information the best model recovers roughly 45% of defaults at a 3.35× lift over chance. That is a genuinely useful risk-ranking tool and a genuinely unusable automatic underwriter, and the difference between those two claims is the whole project.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88324" y="612381"/>
            <a:ext cx="16325193" cy="273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726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DISCUSSION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88324" y="986085"/>
            <a:ext cx="16325193" cy="66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7"/>
              </a:lnSpc>
            </a:pPr>
            <a:r>
              <a:rPr lang="en-US" sz="4053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Conclusions and Future Work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88324" y="1839382"/>
            <a:ext cx="1441304" cy="57198"/>
            <a:chOff x="0" y="0"/>
            <a:chExt cx="1921739" cy="762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88324" y="9552680"/>
            <a:ext cx="15501585" cy="23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5"/>
              </a:lnSpc>
            </a:pPr>
            <a:r>
              <a:rPr lang="en-US" sz="1351">
                <a:solidFill>
                  <a:srgbClr val="647484"/>
                </a:solidFill>
                <a:latin typeface="Canva Sans"/>
                <a:ea typeface="Canva Sans"/>
                <a:cs typeface="Canva Sans"/>
                <a:sym typeface="Canva Sans"/>
              </a:rPr>
              <a:t>CSCI316 Big Data Mining Techniques &amp; Implementation  ·  Autumn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9909" y="9562205"/>
            <a:ext cx="823608" cy="23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6"/>
              </a:lnSpc>
            </a:pPr>
            <a:r>
              <a:rPr lang="en-US" sz="1426" b="true">
                <a:solidFill>
                  <a:srgbClr val="64748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8324" y="1941633"/>
            <a:ext cx="16325193" cy="1287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2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We delivered a complete, leakage-free workflow: Spark exploration over all 855,969 loans, six models across two independent stacks, and a single evaluation protocol shared by both. The best model, a DeepMLP, reaches PR-AUC 0.183 — 3.35× the random baseline — and recovers 43.6% of defaults at its tuned threshold.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8324" y="3774853"/>
            <a:ext cx="16325193" cy="19069"/>
            <a:chOff x="0" y="0"/>
            <a:chExt cx="21766924" cy="254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66912" cy="25400"/>
            </a:xfrm>
            <a:custGeom>
              <a:avLst/>
              <a:gdLst/>
              <a:ahLst/>
              <a:cxnLst/>
              <a:rect r="r" b="b" t="t" l="l"/>
              <a:pathLst>
                <a:path h="25400" w="21766912">
                  <a:moveTo>
                    <a:pt x="0" y="0"/>
                  </a:moveTo>
                  <a:lnTo>
                    <a:pt x="21766912" y="0"/>
                  </a:lnTo>
                  <a:lnTo>
                    <a:pt x="21766912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D8DFE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88324" y="4020807"/>
            <a:ext cx="16325193" cy="274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651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WE WOULD DO NEXT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88324" y="4667088"/>
            <a:ext cx="576520" cy="576520"/>
            <a:chOff x="0" y="0"/>
            <a:chExt cx="768693" cy="768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8731" cy="768731"/>
            </a:xfrm>
            <a:custGeom>
              <a:avLst/>
              <a:gdLst/>
              <a:ahLst/>
              <a:cxnLst/>
              <a:rect r="r" b="b" t="t" l="l"/>
              <a:pathLst>
                <a:path h="768731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8324" y="4734601"/>
            <a:ext cx="576520" cy="34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4"/>
              </a:lnSpc>
            </a:pPr>
            <a:r>
              <a:rPr lang="en-US" sz="210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84471" y="4601537"/>
            <a:ext cx="4444251" cy="124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Temporal validation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Split by issue_d — train on earlier vintages, test on later ones. The realistic deployment test, and it will lower the numbers.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30721" y="4667088"/>
            <a:ext cx="576520" cy="576520"/>
            <a:chOff x="0" y="0"/>
            <a:chExt cx="768693" cy="7686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8731" cy="768731"/>
            </a:xfrm>
            <a:custGeom>
              <a:avLst/>
              <a:gdLst/>
              <a:ahLst/>
              <a:cxnLst/>
              <a:rect r="r" b="b" t="t" l="l"/>
              <a:pathLst>
                <a:path h="768731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530721" y="4734601"/>
            <a:ext cx="576520" cy="34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4"/>
              </a:lnSpc>
            </a:pPr>
            <a:r>
              <a:rPr lang="en-US" sz="210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26868" y="4601537"/>
            <a:ext cx="4444251" cy="1553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Cost-sensitive thresholds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Replace F1 with expected loss: loss-given-default against forgone interest. The threshold should come from money, not from a symmetric metric.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73109" y="4667088"/>
            <a:ext cx="576520" cy="576520"/>
            <a:chOff x="0" y="0"/>
            <a:chExt cx="768693" cy="7686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8731" cy="768731"/>
            </a:xfrm>
            <a:custGeom>
              <a:avLst/>
              <a:gdLst/>
              <a:ahLst/>
              <a:cxnLst/>
              <a:rect r="r" b="b" t="t" l="l"/>
              <a:pathLst>
                <a:path h="768731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073109" y="4734601"/>
            <a:ext cx="576520" cy="34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4"/>
              </a:lnSpc>
            </a:pPr>
            <a:r>
              <a:rPr lang="en-US" sz="210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69256" y="4601537"/>
            <a:ext cx="4444251" cy="124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Probability calibration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Isotonic or Platt scaling so the scores can be read as default probabilities and fed into pricing.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8324" y="6863363"/>
            <a:ext cx="576520" cy="576520"/>
            <a:chOff x="0" y="0"/>
            <a:chExt cx="768693" cy="7686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8731" cy="768731"/>
            </a:xfrm>
            <a:custGeom>
              <a:avLst/>
              <a:gdLst/>
              <a:ahLst/>
              <a:cxnLst/>
              <a:rect r="r" b="b" t="t" l="l"/>
              <a:pathLst>
                <a:path h="768731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88324" y="6930876"/>
            <a:ext cx="576520" cy="34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4"/>
              </a:lnSpc>
            </a:pPr>
            <a:r>
              <a:rPr lang="en-US" sz="210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84471" y="6797812"/>
            <a:ext cx="4444251" cy="944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Full-data Stage 2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Re-run both processes on all 855,969 rows to confirm the 30%-sample ranking holds.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530721" y="6863363"/>
            <a:ext cx="576520" cy="576520"/>
            <a:chOff x="0" y="0"/>
            <a:chExt cx="768693" cy="7686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8731" cy="768731"/>
            </a:xfrm>
            <a:custGeom>
              <a:avLst/>
              <a:gdLst/>
              <a:ahLst/>
              <a:cxnLst/>
              <a:rect r="r" b="b" t="t" l="l"/>
              <a:pathLst>
                <a:path h="768731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6530721" y="6930876"/>
            <a:ext cx="576520" cy="34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4"/>
              </a:lnSpc>
            </a:pPr>
            <a:r>
              <a:rPr lang="en-US" sz="210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26868" y="6797812"/>
            <a:ext cx="4444251" cy="124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Interpretability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SHAP values on the GBT to give per-application reason codes — a regulatory requirement for real credit decisions.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073109" y="6863363"/>
            <a:ext cx="576520" cy="576520"/>
            <a:chOff x="0" y="0"/>
            <a:chExt cx="768693" cy="76869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8731" cy="768731"/>
            </a:xfrm>
            <a:custGeom>
              <a:avLst/>
              <a:gdLst/>
              <a:ahLst/>
              <a:cxnLst/>
              <a:rect r="r" b="b" t="t" l="l"/>
              <a:pathLst>
                <a:path h="768731" w="768731">
                  <a:moveTo>
                    <a:pt x="0" y="0"/>
                  </a:moveTo>
                  <a:lnTo>
                    <a:pt x="768731" y="0"/>
                  </a:lnTo>
                  <a:lnTo>
                    <a:pt x="768731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073109" y="6930876"/>
            <a:ext cx="576520" cy="34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24"/>
              </a:lnSpc>
            </a:pPr>
            <a:r>
              <a:rPr lang="en-US" sz="210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69256" y="6797812"/>
            <a:ext cx="4444251" cy="1249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3"/>
              </a:lnSpc>
            </a:pPr>
            <a:r>
              <a:rPr lang="en-US" sz="2026" b="true">
                <a:solidFill>
                  <a:srgbClr val="112A4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Ensembling and fairness</a:t>
            </a:r>
          </a:p>
          <a:p>
            <a:pPr algn="l">
              <a:lnSpc>
                <a:spcPts val="2417"/>
              </a:lnSpc>
            </a:pPr>
            <a:r>
              <a:rPr lang="en-US" sz="1651">
                <a:solidFill>
                  <a:srgbClr val="1C2B3A"/>
                </a:solidFill>
                <a:latin typeface="Canva Sans"/>
                <a:ea typeface="Canva Sans"/>
                <a:cs typeface="Canva Sans"/>
                <a:sym typeface="Canva Sans"/>
              </a:rPr>
              <a:t>Blend the GBT and DeepMLP scores, and audit default rates by addr_state and emp_length for disparate impact.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112A4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78451"/>
            <a:chOff x="0" y="0"/>
            <a:chExt cx="24402453" cy="2379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37871"/>
            </a:xfrm>
            <a:custGeom>
              <a:avLst/>
              <a:gdLst/>
              <a:ahLst/>
              <a:cxnLst/>
              <a:rect r="r" b="b" t="t" l="l"/>
              <a:pathLst>
                <a:path h="237871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37871"/>
                  </a:lnTo>
                  <a:lnTo>
                    <a:pt x="0" y="237871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04039" y="3345952"/>
            <a:ext cx="10981382" cy="108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77"/>
              </a:lnSpc>
            </a:pPr>
            <a:r>
              <a:rPr lang="en-US" sz="660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04039" y="4872990"/>
            <a:ext cx="1441304" cy="57198"/>
            <a:chOff x="0" y="0"/>
            <a:chExt cx="1921739" cy="762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1764" cy="76200"/>
            </a:xfrm>
            <a:custGeom>
              <a:avLst/>
              <a:gdLst/>
              <a:ahLst/>
              <a:cxnLst/>
              <a:rect r="r" b="b" t="t" l="l"/>
              <a:pathLst>
                <a:path h="76200" w="1921764">
                  <a:moveTo>
                    <a:pt x="0" y="0"/>
                  </a:moveTo>
                  <a:lnTo>
                    <a:pt x="1921764" y="0"/>
                  </a:lnTo>
                  <a:lnTo>
                    <a:pt x="1921764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07A28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04039" y="5315321"/>
            <a:ext cx="10432313" cy="161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3002">
                <a:solidFill>
                  <a:srgbClr val="B8CADB"/>
                </a:solidFill>
                <a:latin typeface="Canva Sans"/>
                <a:ea typeface="Canva Sans"/>
                <a:cs typeface="Canva Sans"/>
                <a:sym typeface="Canva Sans"/>
              </a:rPr>
              <a:t>Questions?</a:t>
            </a:r>
          </a:p>
          <a:p>
            <a:pPr algn="l">
              <a:lnSpc>
                <a:spcPts val="3044"/>
              </a:lnSpc>
            </a:pPr>
            <a:r>
              <a:rPr lang="en-US" sz="1951">
                <a:solidFill>
                  <a:srgbClr val="8AA4BC"/>
                </a:solidFill>
                <a:latin typeface="Canva Sans"/>
                <a:ea typeface="Canva Sans"/>
                <a:cs typeface="Canva Sans"/>
                <a:sym typeface="Canva Sans"/>
              </a:rPr>
              <a:t>Every figure and table in this deck is written out by src/stage1_eda.py, src/stage2_spark.py and src/stage2_tensorflow.py into results/*/final/ — the pinned runs behind these slides.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03117" y="3403102"/>
            <a:ext cx="4529823" cy="177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651" b="true">
                <a:solidFill>
                  <a:srgbClr val="E07A2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REPRODUCE IT</a:t>
            </a:r>
          </a:p>
          <a:p>
            <a:pPr algn="l">
              <a:lnSpc>
                <a:spcPts val="2421"/>
              </a:lnSpc>
            </a:pPr>
            <a:r>
              <a:rPr lang="en-US" sz="1801">
                <a:solidFill>
                  <a:srgbClr val="D6E2EC"/>
                </a:solidFill>
                <a:latin typeface="Consolas"/>
                <a:ea typeface="Consolas"/>
                <a:cs typeface="Consolas"/>
                <a:sym typeface="Consolas"/>
              </a:rPr>
              <a:t>python src/stage1_eda.py</a:t>
            </a:r>
          </a:p>
          <a:p>
            <a:pPr algn="l">
              <a:lnSpc>
                <a:spcPts val="2421"/>
              </a:lnSpc>
            </a:pPr>
            <a:r>
              <a:rPr lang="en-US" sz="1801">
                <a:solidFill>
                  <a:srgbClr val="D6E2EC"/>
                </a:solidFill>
                <a:latin typeface="Consolas"/>
                <a:ea typeface="Consolas"/>
                <a:cs typeface="Consolas"/>
                <a:sym typeface="Consolas"/>
              </a:rPr>
              <a:t>python src/stage2_spark.py</a:t>
            </a:r>
          </a:p>
          <a:p>
            <a:pPr algn="l">
              <a:lnSpc>
                <a:spcPts val="2421"/>
              </a:lnSpc>
            </a:pPr>
            <a:r>
              <a:rPr lang="en-US" sz="1801">
                <a:solidFill>
                  <a:srgbClr val="D6E2EC"/>
                </a:solidFill>
                <a:latin typeface="Consolas"/>
                <a:ea typeface="Consolas"/>
                <a:cs typeface="Consolas"/>
                <a:sym typeface="Consolas"/>
              </a:rPr>
              <a:t>python src/stage2_tensorflow.py</a:t>
            </a:r>
          </a:p>
          <a:p>
            <a:pPr algn="l">
              <a:lnSpc>
                <a:spcPts val="2458"/>
              </a:lnSpc>
            </a:pPr>
            <a:r>
              <a:rPr lang="en-US" sz="1576">
                <a:solidFill>
                  <a:srgbClr val="6E89A3"/>
                </a:solidFill>
                <a:latin typeface="Canva Sans"/>
                <a:ea typeface="Canva Sans"/>
                <a:cs typeface="Canva Sans"/>
                <a:sym typeface="Canva Sans"/>
              </a:rPr>
              <a:t>PySpark 4 · TensorFlow 2.19 · Python 3.12 · JDK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DAHVOH9d_H8</dc:identifier>
  <dcterms:modified xsi:type="dcterms:W3CDTF">2011-08-01T06:04:30Z</dcterms:modified>
  <cp:revision>1</cp:revision>
  <dc:title>CSCI316_Loan_Default_Risk.pptx</dc:title>
</cp:coreProperties>
</file>